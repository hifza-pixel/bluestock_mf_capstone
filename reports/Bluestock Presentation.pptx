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embeddedFontLst>
    <p:embeddedFont>
      <p:font typeface="Roboto" panose="02000000000000000000" pitchFamily="2" charset="0"/>
      <p:regular r:id="rId14"/>
    </p:embeddedFont>
    <p:embeddedFont>
      <p:font typeface="Roboto Mono Medium" panose="00000009000000000000" pitchFamily="49" charset="0"/>
      <p:regular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4340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10303"/>
          </a:solidFill>
          <a:ln/>
        </p:spPr>
      </p:sp>
      <p:sp>
        <p:nvSpPr>
          <p:cNvPr id="3" name="Shape 1"/>
          <p:cNvSpPr/>
          <p:nvPr/>
        </p:nvSpPr>
        <p:spPr>
          <a:xfrm>
            <a:off x="0" y="0"/>
            <a:ext cx="9144000" cy="5143500"/>
          </a:xfrm>
          <a:prstGeom prst="rect">
            <a:avLst/>
          </a:prstGeom>
          <a:solidFill>
            <a:srgbClr val="212121"/>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805583"/>
            <a:ext cx="4722763" cy="775097"/>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FFFFFF"/>
                </a:solidFill>
                <a:latin typeface="Roboto Mono Medium" pitchFamily="34" charset="0"/>
                <a:ea typeface="Roboto Mono Medium" pitchFamily="34" charset="-122"/>
                <a:cs typeface="Roboto Mono Medium" pitchFamily="34" charset="-120"/>
              </a:rPr>
              <a:t>Bluestock Mutual Fund Analytics</a:t>
            </a:r>
            <a:endParaRPr lang="en-US" sz="2400" dirty="0"/>
          </a:p>
        </p:txBody>
      </p:sp>
      <p:sp>
        <p:nvSpPr>
          <p:cNvPr id="4" name="Text 1"/>
          <p:cNvSpPr/>
          <p:nvPr/>
        </p:nvSpPr>
        <p:spPr>
          <a:xfrm>
            <a:off x="496119" y="2766715"/>
            <a:ext cx="5179963" cy="198462"/>
          </a:xfrm>
          <a:prstGeom prst="rect">
            <a:avLst/>
          </a:prstGeom>
          <a:noFill/>
          <a:ln/>
        </p:spPr>
        <p:txBody>
          <a:bodyPr wrap="none" lIns="0" tIns="0" rIns="0" bIns="0" rtlCol="0" anchor="t"/>
          <a:lstStyle/>
          <a:p>
            <a:pPr marL="0" indent="0" algn="l">
              <a:lnSpc>
                <a:spcPct val="133000"/>
              </a:lnSpc>
              <a:buNone/>
            </a:pPr>
            <a:r>
              <a:rPr lang="en-US" sz="950" dirty="0">
                <a:solidFill>
                  <a:srgbClr val="E5E0DF"/>
                </a:solidFill>
                <a:latin typeface="Roboto" pitchFamily="34" charset="0"/>
                <a:ea typeface="Roboto" pitchFamily="34" charset="-122"/>
                <a:cs typeface="Roboto" pitchFamily="34" charset="-120"/>
              </a:rPr>
              <a:t>Capstone Project · BCA Final Year · 2026</a:t>
            </a:r>
            <a:endParaRPr lang="en-US" sz="950" dirty="0"/>
          </a:p>
        </p:txBody>
      </p:sp>
      <p:sp>
        <p:nvSpPr>
          <p:cNvPr id="5" name="Shape 2"/>
          <p:cNvSpPr/>
          <p:nvPr/>
        </p:nvSpPr>
        <p:spPr>
          <a:xfrm>
            <a:off x="496119" y="3104704"/>
            <a:ext cx="1527944" cy="233214"/>
          </a:xfrm>
          <a:prstGeom prst="roundRect">
            <a:avLst>
              <a:gd name="adj" fmla="val 6383"/>
            </a:avLst>
          </a:prstGeom>
          <a:solidFill>
            <a:srgbClr val="3D4D00"/>
          </a:solidFill>
          <a:ln/>
        </p:spPr>
      </p:sp>
      <p:sp>
        <p:nvSpPr>
          <p:cNvPr id="6" name="Text 3"/>
          <p:cNvSpPr/>
          <p:nvPr/>
        </p:nvSpPr>
        <p:spPr>
          <a:xfrm>
            <a:off x="570533" y="3141911"/>
            <a:ext cx="1836316" cy="158800"/>
          </a:xfrm>
          <a:prstGeom prst="rect">
            <a:avLst/>
          </a:prstGeom>
          <a:noFill/>
          <a:ln/>
        </p:spPr>
        <p:txBody>
          <a:bodyPr wrap="none" lIns="0" tIns="0" rIns="0" bIns="0" rtlCol="0" anchor="t"/>
          <a:lstStyle/>
          <a:p>
            <a:pPr marL="0" indent="0" algn="l">
              <a:lnSpc>
                <a:spcPct val="133000"/>
              </a:lnSpc>
              <a:buNone/>
            </a:pPr>
            <a:r>
              <a:rPr lang="en-US" sz="750" dirty="0">
                <a:solidFill>
                  <a:srgbClr val="E5E0DF"/>
                </a:solidFill>
                <a:latin typeface="Roboto" pitchFamily="34" charset="0"/>
                <a:ea typeface="Roboto" pitchFamily="34" charset="-122"/>
                <a:cs typeface="Roboto" pitchFamily="34" charset="-120"/>
              </a:rPr>
              <a:t>PREPARED BY HIFZA TANVEER</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911349"/>
            <a:ext cx="6039669" cy="387548"/>
          </a:xfrm>
          <a:prstGeom prst="rect">
            <a:avLst/>
          </a:prstGeom>
          <a:noFill/>
          <a:ln/>
        </p:spPr>
        <p:txBody>
          <a:bodyPr wrap="none" lIns="0" tIns="0" rIns="0" bIns="0" rtlCol="0" anchor="t"/>
          <a:lstStyle/>
          <a:p>
            <a:pPr marL="0" indent="0" algn="l">
              <a:lnSpc>
                <a:spcPct val="104000"/>
              </a:lnSpc>
              <a:buNone/>
            </a:pPr>
            <a:r>
              <a:rPr lang="en-US" sz="2400" dirty="0">
                <a:solidFill>
                  <a:srgbClr val="FFFFFF"/>
                </a:solidFill>
                <a:latin typeface="Roboto Mono Medium" pitchFamily="34" charset="0"/>
                <a:ea typeface="Roboto Mono Medium" pitchFamily="34" charset="-122"/>
                <a:cs typeface="Roboto Mono Medium" pitchFamily="34" charset="-120"/>
              </a:rPr>
              <a:t>Problem Statement &amp; Objectives</a:t>
            </a:r>
            <a:endParaRPr lang="en-US" sz="2400" dirty="0"/>
          </a:p>
        </p:txBody>
      </p:sp>
      <p:sp>
        <p:nvSpPr>
          <p:cNvPr id="3" name="Text 1"/>
          <p:cNvSpPr/>
          <p:nvPr/>
        </p:nvSpPr>
        <p:spPr>
          <a:xfrm>
            <a:off x="496119" y="1546920"/>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5E0DF"/>
                </a:solidFill>
                <a:latin typeface="Roboto" pitchFamily="34" charset="0"/>
                <a:ea typeface="Roboto" pitchFamily="34" charset="-122"/>
                <a:cs typeface="Roboto" pitchFamily="34" charset="-120"/>
              </a:rPr>
              <a:t>The mutual fund industry generates vast volumes of data that are difficult to analyze manually. Investors and analysts need meaningful, structured insights into fund performance, risk profiles, SIP trends, and investor behavior — but raw data alone does not deliver these answers.</a:t>
            </a:r>
            <a:endParaRPr lang="en-US" sz="950" dirty="0"/>
          </a:p>
        </p:txBody>
      </p:sp>
      <p:sp>
        <p:nvSpPr>
          <p:cNvPr id="4" name="Shape 2"/>
          <p:cNvSpPr/>
          <p:nvPr/>
        </p:nvSpPr>
        <p:spPr>
          <a:xfrm>
            <a:off x="496119" y="2083371"/>
            <a:ext cx="2634555" cy="1111597"/>
          </a:xfrm>
          <a:prstGeom prst="roundRect">
            <a:avLst>
              <a:gd name="adj" fmla="val 1674"/>
            </a:avLst>
          </a:prstGeom>
          <a:solidFill>
            <a:srgbClr val="404040"/>
          </a:solidFill>
          <a:ln/>
        </p:spPr>
      </p:sp>
      <p:sp>
        <p:nvSpPr>
          <p:cNvPr id="5" name="Text 3"/>
          <p:cNvSpPr/>
          <p:nvPr/>
        </p:nvSpPr>
        <p:spPr>
          <a:xfrm>
            <a:off x="620092" y="2207344"/>
            <a:ext cx="1860426" cy="193849"/>
          </a:xfrm>
          <a:prstGeom prst="rect">
            <a:avLst/>
          </a:prstGeom>
          <a:noFill/>
          <a:ln/>
        </p:spPr>
        <p:txBody>
          <a:bodyPr wrap="none" lIns="0" tIns="0" rIns="0" bIns="0" rtlCol="0" anchor="t"/>
          <a:lstStyle/>
          <a:p>
            <a:pPr marL="0" indent="0" algn="l">
              <a:lnSpc>
                <a:spcPct val="104000"/>
              </a:lnSpc>
              <a:buNone/>
            </a:pPr>
            <a:r>
              <a:rPr lang="en-US" sz="1200" dirty="0">
                <a:solidFill>
                  <a:srgbClr val="E5E0DF"/>
                </a:solidFill>
                <a:latin typeface="Roboto Mono Medium" pitchFamily="34" charset="0"/>
                <a:ea typeface="Roboto Mono Medium" pitchFamily="34" charset="-122"/>
                <a:cs typeface="Roboto Mono Medium" pitchFamily="34" charset="-120"/>
              </a:rPr>
              <a:t>End-to-End Analytics</a:t>
            </a:r>
            <a:endParaRPr lang="en-US" sz="1200" dirty="0"/>
          </a:p>
        </p:txBody>
      </p:sp>
      <p:sp>
        <p:nvSpPr>
          <p:cNvPr id="6" name="Text 4"/>
          <p:cNvSpPr/>
          <p:nvPr/>
        </p:nvSpPr>
        <p:spPr>
          <a:xfrm>
            <a:off x="620092" y="2475607"/>
            <a:ext cx="2386608"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5E0DF"/>
                </a:solidFill>
                <a:latin typeface="Roboto" pitchFamily="34" charset="0"/>
                <a:ea typeface="Roboto" pitchFamily="34" charset="-122"/>
                <a:cs typeface="Roboto" pitchFamily="34" charset="-120"/>
              </a:rPr>
              <a:t>Perform complete data analytics from ingestion to insight generation.</a:t>
            </a:r>
            <a:endParaRPr lang="en-US" sz="950" dirty="0"/>
          </a:p>
        </p:txBody>
      </p:sp>
      <p:sp>
        <p:nvSpPr>
          <p:cNvPr id="7" name="Shape 5"/>
          <p:cNvSpPr/>
          <p:nvPr/>
        </p:nvSpPr>
        <p:spPr>
          <a:xfrm>
            <a:off x="3254648" y="2083371"/>
            <a:ext cx="2634630" cy="1111597"/>
          </a:xfrm>
          <a:prstGeom prst="roundRect">
            <a:avLst>
              <a:gd name="adj" fmla="val 1674"/>
            </a:avLst>
          </a:prstGeom>
          <a:solidFill>
            <a:srgbClr val="404040"/>
          </a:solidFill>
          <a:ln/>
        </p:spPr>
      </p:sp>
      <p:sp>
        <p:nvSpPr>
          <p:cNvPr id="8" name="Text 6"/>
          <p:cNvSpPr/>
          <p:nvPr/>
        </p:nvSpPr>
        <p:spPr>
          <a:xfrm>
            <a:off x="3378622" y="2207344"/>
            <a:ext cx="1767408" cy="193849"/>
          </a:xfrm>
          <a:prstGeom prst="rect">
            <a:avLst/>
          </a:prstGeom>
          <a:noFill/>
          <a:ln/>
        </p:spPr>
        <p:txBody>
          <a:bodyPr wrap="none" lIns="0" tIns="0" rIns="0" bIns="0" rtlCol="0" anchor="t"/>
          <a:lstStyle/>
          <a:p>
            <a:pPr marL="0" indent="0" algn="l">
              <a:lnSpc>
                <a:spcPct val="104000"/>
              </a:lnSpc>
              <a:buNone/>
            </a:pPr>
            <a:r>
              <a:rPr lang="en-US" sz="1200" dirty="0">
                <a:solidFill>
                  <a:srgbClr val="E5E0DF"/>
                </a:solidFill>
                <a:latin typeface="Roboto Mono Medium" pitchFamily="34" charset="0"/>
                <a:ea typeface="Roboto Mono Medium" pitchFamily="34" charset="-122"/>
                <a:cs typeface="Roboto Mono Medium" pitchFamily="34" charset="-120"/>
              </a:rPr>
              <a:t>Structured Database</a:t>
            </a:r>
            <a:endParaRPr lang="en-US" sz="1200" dirty="0"/>
          </a:p>
        </p:txBody>
      </p:sp>
      <p:sp>
        <p:nvSpPr>
          <p:cNvPr id="9" name="Text 7"/>
          <p:cNvSpPr/>
          <p:nvPr/>
        </p:nvSpPr>
        <p:spPr>
          <a:xfrm>
            <a:off x="3378622" y="2475607"/>
            <a:ext cx="238668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5E0DF"/>
                </a:solidFill>
                <a:latin typeface="Roboto" pitchFamily="34" charset="0"/>
                <a:ea typeface="Roboto" pitchFamily="34" charset="-122"/>
                <a:cs typeface="Roboto" pitchFamily="34" charset="-120"/>
              </a:rPr>
              <a:t>Build a clean, queryable SQLite database from multiple raw data sources.</a:t>
            </a:r>
            <a:endParaRPr lang="en-US" sz="950" dirty="0"/>
          </a:p>
        </p:txBody>
      </p:sp>
      <p:sp>
        <p:nvSpPr>
          <p:cNvPr id="10" name="Shape 8"/>
          <p:cNvSpPr/>
          <p:nvPr/>
        </p:nvSpPr>
        <p:spPr>
          <a:xfrm>
            <a:off x="6013252" y="2083371"/>
            <a:ext cx="2634555" cy="1111597"/>
          </a:xfrm>
          <a:prstGeom prst="roundRect">
            <a:avLst>
              <a:gd name="adj" fmla="val 1674"/>
            </a:avLst>
          </a:prstGeom>
          <a:solidFill>
            <a:srgbClr val="404040"/>
          </a:solidFill>
          <a:ln/>
        </p:spPr>
      </p:sp>
      <p:sp>
        <p:nvSpPr>
          <p:cNvPr id="11" name="Text 9"/>
          <p:cNvSpPr/>
          <p:nvPr/>
        </p:nvSpPr>
        <p:spPr>
          <a:xfrm>
            <a:off x="6137225" y="2207344"/>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E5E0DF"/>
                </a:solidFill>
                <a:latin typeface="Roboto Mono Medium" pitchFamily="34" charset="0"/>
                <a:ea typeface="Roboto Mono Medium" pitchFamily="34" charset="-122"/>
                <a:cs typeface="Roboto Mono Medium" pitchFamily="34" charset="-120"/>
              </a:rPr>
              <a:t>Fund Performance</a:t>
            </a:r>
            <a:endParaRPr lang="en-US" sz="1200" dirty="0"/>
          </a:p>
        </p:txBody>
      </p:sp>
      <p:sp>
        <p:nvSpPr>
          <p:cNvPr id="12" name="Text 10"/>
          <p:cNvSpPr/>
          <p:nvPr/>
        </p:nvSpPr>
        <p:spPr>
          <a:xfrm>
            <a:off x="6137225" y="2475607"/>
            <a:ext cx="2386608"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5E0DF"/>
                </a:solidFill>
                <a:latin typeface="Roboto" pitchFamily="34" charset="0"/>
                <a:ea typeface="Roboto" pitchFamily="34" charset="-122"/>
                <a:cs typeface="Roboto" pitchFamily="34" charset="-120"/>
              </a:rPr>
              <a:t>Analyze returns, risk metrics, and benchmark comparisons across fund categories.</a:t>
            </a:r>
            <a:endParaRPr lang="en-US" sz="950" dirty="0"/>
          </a:p>
        </p:txBody>
      </p:sp>
      <p:sp>
        <p:nvSpPr>
          <p:cNvPr id="13" name="Shape 11"/>
          <p:cNvSpPr/>
          <p:nvPr/>
        </p:nvSpPr>
        <p:spPr>
          <a:xfrm>
            <a:off x="496119" y="3318942"/>
            <a:ext cx="4013820" cy="913135"/>
          </a:xfrm>
          <a:prstGeom prst="roundRect">
            <a:avLst>
              <a:gd name="adj" fmla="val 2038"/>
            </a:avLst>
          </a:prstGeom>
          <a:solidFill>
            <a:srgbClr val="404040"/>
          </a:solidFill>
          <a:ln/>
        </p:spPr>
      </p:sp>
      <p:sp>
        <p:nvSpPr>
          <p:cNvPr id="14" name="Text 12"/>
          <p:cNvSpPr/>
          <p:nvPr/>
        </p:nvSpPr>
        <p:spPr>
          <a:xfrm>
            <a:off x="620092" y="3442915"/>
            <a:ext cx="2046461" cy="193849"/>
          </a:xfrm>
          <a:prstGeom prst="rect">
            <a:avLst/>
          </a:prstGeom>
          <a:noFill/>
          <a:ln/>
        </p:spPr>
        <p:txBody>
          <a:bodyPr wrap="none" lIns="0" tIns="0" rIns="0" bIns="0" rtlCol="0" anchor="t"/>
          <a:lstStyle/>
          <a:p>
            <a:pPr marL="0" indent="0" algn="l">
              <a:lnSpc>
                <a:spcPct val="104000"/>
              </a:lnSpc>
              <a:buNone/>
            </a:pPr>
            <a:r>
              <a:rPr lang="en-US" sz="1200" dirty="0">
                <a:solidFill>
                  <a:srgbClr val="E5E0DF"/>
                </a:solidFill>
                <a:latin typeface="Roboto Mono Medium" pitchFamily="34" charset="0"/>
                <a:ea typeface="Roboto Mono Medium" pitchFamily="34" charset="-122"/>
                <a:cs typeface="Roboto Mono Medium" pitchFamily="34" charset="-120"/>
              </a:rPr>
              <a:t>Interactive Dashboards</a:t>
            </a:r>
            <a:endParaRPr lang="en-US" sz="1200" dirty="0"/>
          </a:p>
        </p:txBody>
      </p:sp>
      <p:sp>
        <p:nvSpPr>
          <p:cNvPr id="15" name="Text 13"/>
          <p:cNvSpPr/>
          <p:nvPr/>
        </p:nvSpPr>
        <p:spPr>
          <a:xfrm>
            <a:off x="620092" y="3711178"/>
            <a:ext cx="376587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5E0DF"/>
                </a:solidFill>
                <a:latin typeface="Roboto" pitchFamily="34" charset="0"/>
                <a:ea typeface="Roboto" pitchFamily="34" charset="-122"/>
                <a:cs typeface="Roboto" pitchFamily="34" charset="-120"/>
              </a:rPr>
              <a:t>Create Power BI dashboards for visual exploration and stakeholder reporting.</a:t>
            </a:r>
            <a:endParaRPr lang="en-US" sz="950" dirty="0"/>
          </a:p>
        </p:txBody>
      </p:sp>
      <p:sp>
        <p:nvSpPr>
          <p:cNvPr id="16" name="Shape 14"/>
          <p:cNvSpPr/>
          <p:nvPr/>
        </p:nvSpPr>
        <p:spPr>
          <a:xfrm>
            <a:off x="4633913" y="3318942"/>
            <a:ext cx="4013895" cy="913135"/>
          </a:xfrm>
          <a:prstGeom prst="roundRect">
            <a:avLst>
              <a:gd name="adj" fmla="val 2038"/>
            </a:avLst>
          </a:prstGeom>
          <a:solidFill>
            <a:srgbClr val="404040"/>
          </a:solidFill>
          <a:ln/>
        </p:spPr>
      </p:sp>
      <p:sp>
        <p:nvSpPr>
          <p:cNvPr id="17" name="Text 15"/>
          <p:cNvSpPr/>
          <p:nvPr/>
        </p:nvSpPr>
        <p:spPr>
          <a:xfrm>
            <a:off x="4757886" y="3442915"/>
            <a:ext cx="1767408" cy="193849"/>
          </a:xfrm>
          <a:prstGeom prst="rect">
            <a:avLst/>
          </a:prstGeom>
          <a:noFill/>
          <a:ln/>
        </p:spPr>
        <p:txBody>
          <a:bodyPr wrap="none" lIns="0" tIns="0" rIns="0" bIns="0" rtlCol="0" anchor="t"/>
          <a:lstStyle/>
          <a:p>
            <a:pPr marL="0" indent="0" algn="l">
              <a:lnSpc>
                <a:spcPct val="104000"/>
              </a:lnSpc>
              <a:buNone/>
            </a:pPr>
            <a:r>
              <a:rPr lang="en-US" sz="1200" dirty="0">
                <a:solidFill>
                  <a:srgbClr val="E5E0DF"/>
                </a:solidFill>
                <a:latin typeface="Roboto Mono Medium" pitchFamily="34" charset="0"/>
                <a:ea typeface="Roboto Mono Medium" pitchFamily="34" charset="-122"/>
                <a:cs typeface="Roboto Mono Medium" pitchFamily="34" charset="-120"/>
              </a:rPr>
              <a:t>Actionable Insights</a:t>
            </a:r>
            <a:endParaRPr lang="en-US" sz="1200" dirty="0"/>
          </a:p>
        </p:txBody>
      </p:sp>
      <p:sp>
        <p:nvSpPr>
          <p:cNvPr id="18" name="Text 16"/>
          <p:cNvSpPr/>
          <p:nvPr/>
        </p:nvSpPr>
        <p:spPr>
          <a:xfrm>
            <a:off x="4757886" y="3711178"/>
            <a:ext cx="3765947"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5E0DF"/>
                </a:solidFill>
                <a:latin typeface="Roboto" pitchFamily="34" charset="0"/>
                <a:ea typeface="Roboto" pitchFamily="34" charset="-122"/>
                <a:cs typeface="Roboto" pitchFamily="34" charset="-120"/>
              </a:rPr>
              <a:t>Generate investment recommendations backed by quantitative evidence.</a:t>
            </a:r>
            <a:endParaRPr lang="en-US" sz="950" dirty="0"/>
          </a:p>
        </p:txBody>
      </p:sp>
      <p:sp>
        <p:nvSpPr>
          <p:cNvPr id="20" name="Rectangle: Rounded Corners 19">
            <a:extLst>
              <a:ext uri="{FF2B5EF4-FFF2-40B4-BE49-F238E27FC236}">
                <a16:creationId xmlns:a16="http://schemas.microsoft.com/office/drawing/2014/main" id="{87827B01-FEAA-7ACE-24BD-B3610D4B081B}"/>
              </a:ext>
            </a:extLst>
          </p:cNvPr>
          <p:cNvSpPr/>
          <p:nvPr/>
        </p:nvSpPr>
        <p:spPr>
          <a:xfrm>
            <a:off x="8039687" y="4881489"/>
            <a:ext cx="1019908" cy="182880"/>
          </a:xfrm>
          <a:prstGeom prst="roundRect">
            <a:avLst>
              <a:gd name="adj" fmla="val 0"/>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1160190"/>
            <a:ext cx="4737050" cy="387548"/>
          </a:xfrm>
          <a:prstGeom prst="rect">
            <a:avLst/>
          </a:prstGeom>
          <a:noFill/>
          <a:ln/>
        </p:spPr>
        <p:txBody>
          <a:bodyPr wrap="none" lIns="0" tIns="0" rIns="0" bIns="0" rtlCol="0" anchor="t"/>
          <a:lstStyle/>
          <a:p>
            <a:pPr marL="0" indent="0" algn="l">
              <a:lnSpc>
                <a:spcPct val="104000"/>
              </a:lnSpc>
              <a:buNone/>
            </a:pPr>
            <a:r>
              <a:rPr lang="en-US" sz="2400" dirty="0">
                <a:solidFill>
                  <a:srgbClr val="FFFFFF"/>
                </a:solidFill>
                <a:latin typeface="Roboto Mono Medium" pitchFamily="34" charset="0"/>
                <a:ea typeface="Roboto Mono Medium" pitchFamily="34" charset="-122"/>
                <a:cs typeface="Roboto Mono Medium" pitchFamily="34" charset="-120"/>
              </a:rPr>
              <a:t>Data Sources &amp; Datasets</a:t>
            </a:r>
            <a:endParaRPr lang="en-US" sz="2400" dirty="0"/>
          </a:p>
        </p:txBody>
      </p:sp>
      <p:sp>
        <p:nvSpPr>
          <p:cNvPr id="3" name="Text 1"/>
          <p:cNvSpPr/>
          <p:nvPr/>
        </p:nvSpPr>
        <p:spPr>
          <a:xfrm>
            <a:off x="496119" y="1795760"/>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5E0DF"/>
                </a:solidFill>
                <a:latin typeface="Roboto" pitchFamily="34" charset="0"/>
                <a:ea typeface="Roboto" pitchFamily="34" charset="-122"/>
                <a:cs typeface="Roboto" pitchFamily="34" charset="-120"/>
              </a:rPr>
              <a:t>This project leverages </a:t>
            </a:r>
            <a:r>
              <a:rPr lang="en-US" sz="950" b="1" dirty="0">
                <a:solidFill>
                  <a:srgbClr val="E5E0DF"/>
                </a:solidFill>
                <a:latin typeface="Roboto" pitchFamily="34" charset="0"/>
                <a:ea typeface="Roboto" pitchFamily="34" charset="-122"/>
                <a:cs typeface="Roboto" pitchFamily="34" charset="-120"/>
              </a:rPr>
              <a:t>ten distinct datasets</a:t>
            </a:r>
            <a:r>
              <a:rPr lang="en-US" sz="950" dirty="0">
                <a:solidFill>
                  <a:srgbClr val="E5E0DF"/>
                </a:solidFill>
                <a:latin typeface="Roboto" pitchFamily="34" charset="0"/>
                <a:ea typeface="Roboto" pitchFamily="34" charset="-122"/>
                <a:cs typeface="Roboto" pitchFamily="34" charset="-120"/>
              </a:rPr>
              <a:t> spanning the 2022–2026 period, covering fund fundamentals, NAV history, investor behavior, and market benchmarks. Together, they provide a comprehensive foundation for multi-dimensional analysis.</a:t>
            </a:r>
            <a:endParaRPr lang="en-US" sz="950" dirty="0"/>
          </a:p>
        </p:txBody>
      </p:sp>
      <p:sp>
        <p:nvSpPr>
          <p:cNvPr id="4" name="Shape 2"/>
          <p:cNvSpPr/>
          <p:nvPr/>
        </p:nvSpPr>
        <p:spPr>
          <a:xfrm>
            <a:off x="406822" y="2332211"/>
            <a:ext cx="4103191" cy="1651025"/>
          </a:xfrm>
          <a:prstGeom prst="roundRect">
            <a:avLst>
              <a:gd name="adj" fmla="val 1127"/>
            </a:avLst>
          </a:prstGeom>
          <a:solidFill>
            <a:srgbClr val="DCFF50"/>
          </a:solidFill>
          <a:ln/>
        </p:spPr>
      </p:sp>
      <p:sp>
        <p:nvSpPr>
          <p:cNvPr id="5" name="Text 3"/>
          <p:cNvSpPr/>
          <p:nvPr/>
        </p:nvSpPr>
        <p:spPr>
          <a:xfrm>
            <a:off x="530796" y="2456185"/>
            <a:ext cx="2131591"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Roboto Mono Medium" pitchFamily="34" charset="0"/>
                <a:ea typeface="Roboto Mono Medium" pitchFamily="34" charset="-122"/>
                <a:cs typeface="Roboto Mono Medium" pitchFamily="34" charset="-120"/>
              </a:rPr>
              <a:t>Market &amp; Fund Data</a:t>
            </a:r>
            <a:endParaRPr lang="en-US" sz="1200" dirty="0"/>
          </a:p>
        </p:txBody>
      </p:sp>
      <p:sp>
        <p:nvSpPr>
          <p:cNvPr id="6" name="Text 4"/>
          <p:cNvSpPr/>
          <p:nvPr/>
        </p:nvSpPr>
        <p:spPr>
          <a:xfrm>
            <a:off x="530796" y="2774007"/>
            <a:ext cx="3855244" cy="1165845"/>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000000"/>
                </a:solidFill>
                <a:latin typeface="Roboto" pitchFamily="34" charset="0"/>
                <a:ea typeface="Roboto" pitchFamily="34" charset="-122"/>
                <a:cs typeface="Roboto" pitchFamily="34" charset="-120"/>
              </a:rPr>
              <a:t>Fund Master — scheme metadata and categorization</a:t>
            </a:r>
            <a:endParaRPr lang="en-US" sz="950" dirty="0"/>
          </a:p>
          <a:p>
            <a:pPr marL="342900" indent="-342900" algn="l">
              <a:lnSpc>
                <a:spcPct val="133000"/>
              </a:lnSpc>
              <a:buSzPct val="100000"/>
              <a:buChar char="•"/>
            </a:pPr>
            <a:r>
              <a:rPr lang="en-US" sz="950" dirty="0">
                <a:solidFill>
                  <a:srgbClr val="000000"/>
                </a:solidFill>
                <a:latin typeface="Roboto" pitchFamily="34" charset="0"/>
                <a:ea typeface="Roboto" pitchFamily="34" charset="-122"/>
                <a:cs typeface="Roboto" pitchFamily="34" charset="-120"/>
              </a:rPr>
              <a:t>NAV History — daily net asset values across schemes</a:t>
            </a:r>
            <a:endParaRPr lang="en-US" sz="950" dirty="0"/>
          </a:p>
          <a:p>
            <a:pPr marL="342900" indent="-342900" algn="l">
              <a:lnSpc>
                <a:spcPct val="133000"/>
              </a:lnSpc>
              <a:buSzPct val="100000"/>
              <a:buChar char="•"/>
            </a:pPr>
            <a:r>
              <a:rPr lang="en-US" sz="950" dirty="0">
                <a:solidFill>
                  <a:srgbClr val="000000"/>
                </a:solidFill>
                <a:latin typeface="Roboto" pitchFamily="34" charset="0"/>
                <a:ea typeface="Roboto" pitchFamily="34" charset="-122"/>
                <a:cs typeface="Roboto" pitchFamily="34" charset="-120"/>
              </a:rPr>
              <a:t>AUM by Fund House — assets under management trends</a:t>
            </a:r>
            <a:endParaRPr lang="en-US" sz="950" dirty="0"/>
          </a:p>
          <a:p>
            <a:pPr marL="342900" indent="-342900" algn="l">
              <a:lnSpc>
                <a:spcPct val="133000"/>
              </a:lnSpc>
              <a:buSzPct val="100000"/>
              <a:buChar char="•"/>
            </a:pPr>
            <a:r>
              <a:rPr lang="en-US" sz="950" dirty="0">
                <a:solidFill>
                  <a:srgbClr val="000000"/>
                </a:solidFill>
                <a:latin typeface="Roboto" pitchFamily="34" charset="0"/>
                <a:ea typeface="Roboto" pitchFamily="34" charset="-122"/>
                <a:cs typeface="Roboto" pitchFamily="34" charset="-120"/>
              </a:rPr>
              <a:t>Scheme Performance — returns and classification data</a:t>
            </a:r>
            <a:endParaRPr lang="en-US" sz="950" dirty="0"/>
          </a:p>
          <a:p>
            <a:pPr marL="342900" indent="-342900" algn="l">
              <a:lnSpc>
                <a:spcPct val="133000"/>
              </a:lnSpc>
              <a:buSzPct val="100000"/>
              <a:buChar char="•"/>
            </a:pPr>
            <a:r>
              <a:rPr lang="en-US" sz="950" dirty="0">
                <a:solidFill>
                  <a:srgbClr val="000000"/>
                </a:solidFill>
                <a:latin typeface="Roboto" pitchFamily="34" charset="0"/>
                <a:ea typeface="Roboto" pitchFamily="34" charset="-122"/>
                <a:cs typeface="Roboto" pitchFamily="34" charset="-120"/>
              </a:rPr>
              <a:t>Benchmark Indices — market reference for relative performance</a:t>
            </a:r>
            <a:endParaRPr lang="en-US" sz="950" dirty="0"/>
          </a:p>
        </p:txBody>
      </p:sp>
      <p:sp>
        <p:nvSpPr>
          <p:cNvPr id="7" name="Text 5"/>
          <p:cNvSpPr/>
          <p:nvPr/>
        </p:nvSpPr>
        <p:spPr>
          <a:xfrm>
            <a:off x="4728046" y="2456185"/>
            <a:ext cx="2317626" cy="19384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Roboto Mono Medium" pitchFamily="34" charset="0"/>
                <a:ea typeface="Roboto Mono Medium" pitchFamily="34" charset="-122"/>
                <a:cs typeface="Roboto Mono Medium" pitchFamily="34" charset="-120"/>
              </a:rPr>
              <a:t>Investor &amp; Flow Data</a:t>
            </a:r>
            <a:endParaRPr lang="en-US" sz="1200" dirty="0"/>
          </a:p>
        </p:txBody>
      </p:sp>
      <p:sp>
        <p:nvSpPr>
          <p:cNvPr id="8" name="Text 6"/>
          <p:cNvSpPr/>
          <p:nvPr/>
        </p:nvSpPr>
        <p:spPr>
          <a:xfrm>
            <a:off x="4728046" y="2774007"/>
            <a:ext cx="3924598" cy="1165845"/>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E5E0DF"/>
                </a:solidFill>
                <a:latin typeface="Roboto" pitchFamily="34" charset="0"/>
                <a:ea typeface="Roboto" pitchFamily="34" charset="-122"/>
                <a:cs typeface="Roboto" pitchFamily="34" charset="-120"/>
              </a:rPr>
              <a:t>Monthly SIP Inflows — systematic investment trend data</a:t>
            </a:r>
            <a:endParaRPr lang="en-US" sz="950" dirty="0"/>
          </a:p>
          <a:p>
            <a:pPr marL="342900" indent="-342900" algn="l">
              <a:lnSpc>
                <a:spcPct val="133000"/>
              </a:lnSpc>
              <a:buSzPct val="100000"/>
              <a:buChar char="•"/>
            </a:pPr>
            <a:r>
              <a:rPr lang="en-US" sz="950" dirty="0">
                <a:solidFill>
                  <a:srgbClr val="E5E0DF"/>
                </a:solidFill>
                <a:latin typeface="Roboto" pitchFamily="34" charset="0"/>
                <a:ea typeface="Roboto" pitchFamily="34" charset="-122"/>
                <a:cs typeface="Roboto" pitchFamily="34" charset="-120"/>
              </a:rPr>
              <a:t>Category Inflows — fund category-level flow analysis</a:t>
            </a:r>
            <a:endParaRPr lang="en-US" sz="950" dirty="0"/>
          </a:p>
          <a:p>
            <a:pPr marL="342900" indent="-342900" algn="l">
              <a:lnSpc>
                <a:spcPct val="133000"/>
              </a:lnSpc>
              <a:buSzPct val="100000"/>
              <a:buChar char="•"/>
            </a:pPr>
            <a:r>
              <a:rPr lang="en-US" sz="950" dirty="0">
                <a:solidFill>
                  <a:srgbClr val="E5E0DF"/>
                </a:solidFill>
                <a:latin typeface="Roboto" pitchFamily="34" charset="0"/>
                <a:ea typeface="Roboto" pitchFamily="34" charset="-122"/>
                <a:cs typeface="Roboto" pitchFamily="34" charset="-120"/>
              </a:rPr>
              <a:t>Industry Folio Count — investor participation metrics</a:t>
            </a:r>
            <a:endParaRPr lang="en-US" sz="950" dirty="0"/>
          </a:p>
          <a:p>
            <a:pPr marL="342900" indent="-342900" algn="l">
              <a:lnSpc>
                <a:spcPct val="133000"/>
              </a:lnSpc>
              <a:buSzPct val="100000"/>
              <a:buChar char="•"/>
            </a:pPr>
            <a:r>
              <a:rPr lang="en-US" sz="950" dirty="0">
                <a:solidFill>
                  <a:srgbClr val="E5E0DF"/>
                </a:solidFill>
                <a:latin typeface="Roboto" pitchFamily="34" charset="0"/>
                <a:ea typeface="Roboto" pitchFamily="34" charset="-122"/>
                <a:cs typeface="Roboto" pitchFamily="34" charset="-120"/>
              </a:rPr>
              <a:t>Investor Transactions — behavioral and transactional patterns</a:t>
            </a:r>
            <a:endParaRPr lang="en-US" sz="950" dirty="0"/>
          </a:p>
          <a:p>
            <a:pPr marL="342900" indent="-342900" algn="l">
              <a:lnSpc>
                <a:spcPct val="133000"/>
              </a:lnSpc>
              <a:buSzPct val="100000"/>
              <a:buChar char="•"/>
            </a:pPr>
            <a:r>
              <a:rPr lang="en-US" sz="950" dirty="0">
                <a:solidFill>
                  <a:srgbClr val="E5E0DF"/>
                </a:solidFill>
                <a:latin typeface="Roboto" pitchFamily="34" charset="0"/>
                <a:ea typeface="Roboto" pitchFamily="34" charset="-122"/>
                <a:cs typeface="Roboto" pitchFamily="34" charset="-120"/>
              </a:rPr>
              <a:t>Portfolio Holdings — fund-level asset allocation details</a:t>
            </a:r>
            <a:endParaRPr lang="en-US" sz="950" dirty="0"/>
          </a:p>
        </p:txBody>
      </p:sp>
      <p:sp>
        <p:nvSpPr>
          <p:cNvPr id="9" name="Rectangle: Rounded Corners 8">
            <a:extLst>
              <a:ext uri="{FF2B5EF4-FFF2-40B4-BE49-F238E27FC236}">
                <a16:creationId xmlns:a16="http://schemas.microsoft.com/office/drawing/2014/main" id="{D448EEA4-BFCF-09B7-522C-D11E9E9811F3}"/>
              </a:ext>
            </a:extLst>
          </p:cNvPr>
          <p:cNvSpPr/>
          <p:nvPr/>
        </p:nvSpPr>
        <p:spPr>
          <a:xfrm>
            <a:off x="8039687" y="4881489"/>
            <a:ext cx="1019908" cy="182880"/>
          </a:xfrm>
          <a:prstGeom prst="roundRect">
            <a:avLst>
              <a:gd name="adj" fmla="val 0"/>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133029" y="286494"/>
            <a:ext cx="3073152" cy="272504"/>
          </a:xfrm>
          <a:prstGeom prst="rect">
            <a:avLst/>
          </a:prstGeom>
          <a:noFill/>
          <a:ln/>
        </p:spPr>
        <p:txBody>
          <a:bodyPr wrap="none" lIns="0" tIns="0" rIns="0" bIns="0" rtlCol="0" anchor="t"/>
          <a:lstStyle/>
          <a:p>
            <a:pPr marL="0" indent="0" algn="l">
              <a:lnSpc>
                <a:spcPct val="104000"/>
              </a:lnSpc>
              <a:buNone/>
            </a:pPr>
            <a:r>
              <a:rPr lang="en-US" sz="1700" dirty="0">
                <a:solidFill>
                  <a:srgbClr val="FFFFFF"/>
                </a:solidFill>
                <a:latin typeface="Roboto Mono Medium" pitchFamily="34" charset="0"/>
                <a:ea typeface="Roboto Mono Medium" pitchFamily="34" charset="-122"/>
                <a:cs typeface="Roboto Mono Medium" pitchFamily="34" charset="-120"/>
              </a:rPr>
              <a:t>Project Architecture</a:t>
            </a:r>
            <a:endParaRPr lang="en-US" sz="1700" dirty="0"/>
          </a:p>
        </p:txBody>
      </p:sp>
      <p:sp>
        <p:nvSpPr>
          <p:cNvPr id="3" name="Text 1"/>
          <p:cNvSpPr/>
          <p:nvPr/>
        </p:nvSpPr>
        <p:spPr>
          <a:xfrm>
            <a:off x="1133029" y="681633"/>
            <a:ext cx="6877869" cy="237530"/>
          </a:xfrm>
          <a:prstGeom prst="rect">
            <a:avLst/>
          </a:prstGeom>
          <a:noFill/>
          <a:ln/>
        </p:spPr>
        <p:txBody>
          <a:bodyPr wrap="square" lIns="0" tIns="0" rIns="0" bIns="0" rtlCol="0" anchor="t">
            <a:normAutofit/>
          </a:bodyPr>
          <a:lstStyle/>
          <a:p>
            <a:pPr marL="0" indent="0" algn="l">
              <a:lnSpc>
                <a:spcPct val="114000"/>
              </a:lnSpc>
              <a:buNone/>
            </a:pPr>
            <a:r>
              <a:rPr lang="en-US" sz="650" dirty="0">
                <a:solidFill>
                  <a:srgbClr val="E5E0DF"/>
                </a:solidFill>
                <a:latin typeface="Roboto" pitchFamily="34" charset="0"/>
                <a:ea typeface="Roboto" pitchFamily="34" charset="-122"/>
                <a:cs typeface="Roboto" pitchFamily="34" charset="-120"/>
              </a:rPr>
              <a:t>The analytics pipeline follows a structured seven-stage workflow — from raw CSV ingestion through cleaning, database construction, exploratory analysis, performance modeling, and finally interactive visualization in Power BI. Each stage builds on the previous, ensuring data integrity and analytical rigor.</a:t>
            </a:r>
            <a:endParaRPr lang="en-US" sz="650" dirty="0"/>
          </a:p>
        </p:txBody>
      </p:sp>
      <p:pic>
        <p:nvPicPr>
          <p:cNvPr id="4" name="Image 0" descr="preencoded.png"/>
          <p:cNvPicPr>
            <a:picLocks noChangeAspect="1"/>
          </p:cNvPicPr>
          <p:nvPr/>
        </p:nvPicPr>
        <p:blipFill>
          <a:blip r:embed="rId3"/>
          <a:stretch>
            <a:fillRect/>
          </a:stretch>
        </p:blipFill>
        <p:spPr>
          <a:xfrm>
            <a:off x="1133029" y="988144"/>
            <a:ext cx="6877869" cy="3868787"/>
          </a:xfrm>
          <a:prstGeom prst="rect">
            <a:avLst/>
          </a:prstGeom>
        </p:spPr>
      </p:pic>
      <p:sp>
        <p:nvSpPr>
          <p:cNvPr id="5" name="Rectangle: Rounded Corners 4">
            <a:extLst>
              <a:ext uri="{FF2B5EF4-FFF2-40B4-BE49-F238E27FC236}">
                <a16:creationId xmlns:a16="http://schemas.microsoft.com/office/drawing/2014/main" id="{F74C84B3-53DC-5EF7-2DF9-ECD733027309}"/>
              </a:ext>
            </a:extLst>
          </p:cNvPr>
          <p:cNvSpPr/>
          <p:nvPr/>
        </p:nvSpPr>
        <p:spPr>
          <a:xfrm>
            <a:off x="8039687" y="4881489"/>
            <a:ext cx="1019908" cy="182880"/>
          </a:xfrm>
          <a:prstGeom prst="roundRect">
            <a:avLst>
              <a:gd name="adj" fmla="val 0"/>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26393" y="305767"/>
            <a:ext cx="5732859" cy="333077"/>
          </a:xfrm>
          <a:prstGeom prst="rect">
            <a:avLst/>
          </a:prstGeom>
          <a:noFill/>
          <a:ln/>
        </p:spPr>
        <p:txBody>
          <a:bodyPr wrap="none" lIns="0" tIns="0" rIns="0" bIns="0" rtlCol="0" anchor="t"/>
          <a:lstStyle/>
          <a:p>
            <a:pPr marL="0" indent="0" algn="l">
              <a:lnSpc>
                <a:spcPct val="104000"/>
              </a:lnSpc>
              <a:buNone/>
            </a:pPr>
            <a:r>
              <a:rPr lang="en-US" sz="2050" dirty="0">
                <a:solidFill>
                  <a:srgbClr val="FFFFFF"/>
                </a:solidFill>
                <a:latin typeface="Roboto Mono Medium" pitchFamily="34" charset="0"/>
                <a:ea typeface="Roboto Mono Medium" pitchFamily="34" charset="-122"/>
                <a:cs typeface="Roboto Mono Medium" pitchFamily="34" charset="-120"/>
              </a:rPr>
              <a:t>EDA Highlights — NAV &amp; SIP Trends</a:t>
            </a:r>
            <a:endParaRPr lang="en-US" sz="2050" dirty="0"/>
          </a:p>
        </p:txBody>
      </p:sp>
      <p:sp>
        <p:nvSpPr>
          <p:cNvPr id="3" name="Text 1"/>
          <p:cNvSpPr/>
          <p:nvPr/>
        </p:nvSpPr>
        <p:spPr>
          <a:xfrm>
            <a:off x="426393" y="822052"/>
            <a:ext cx="8291215" cy="317153"/>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E5E0DF"/>
                </a:solidFill>
                <a:latin typeface="Roboto" pitchFamily="34" charset="0"/>
                <a:ea typeface="Roboto" pitchFamily="34" charset="-122"/>
                <a:cs typeface="Roboto" pitchFamily="34" charset="-120"/>
              </a:rPr>
              <a:t>Exploratory data analysis revealed clear market momentum patterns across the study period. NAV growth peaked in 2023, while 2024 introduced visible corrections — a pattern consistent with broader market volatility. SIP inflows demonstrated remarkable consistency, underscoring growing investor confidence in systematic investing.</a:t>
            </a:r>
            <a:endParaRPr lang="en-US" sz="800" dirty="0"/>
          </a:p>
        </p:txBody>
      </p:sp>
      <p:sp>
        <p:nvSpPr>
          <p:cNvPr id="4" name="Text 2"/>
          <p:cNvSpPr/>
          <p:nvPr/>
        </p:nvSpPr>
        <p:spPr>
          <a:xfrm>
            <a:off x="426393" y="1333798"/>
            <a:ext cx="1896070" cy="166539"/>
          </a:xfrm>
          <a:prstGeom prst="rect">
            <a:avLst/>
          </a:prstGeom>
          <a:noFill/>
          <a:ln/>
        </p:spPr>
        <p:txBody>
          <a:bodyPr wrap="none" lIns="0" tIns="0" rIns="0" bIns="0" rtlCol="0" anchor="t"/>
          <a:lstStyle/>
          <a:p>
            <a:pPr marL="0" indent="0" algn="l">
              <a:lnSpc>
                <a:spcPct val="104000"/>
              </a:lnSpc>
              <a:buNone/>
            </a:pPr>
            <a:r>
              <a:rPr lang="en-US" sz="1000" dirty="0">
                <a:solidFill>
                  <a:srgbClr val="FFFFFF"/>
                </a:solidFill>
                <a:latin typeface="Roboto Mono Medium" pitchFamily="34" charset="0"/>
                <a:ea typeface="Roboto Mono Medium" pitchFamily="34" charset="-122"/>
                <a:cs typeface="Roboto Mono Medium" pitchFamily="34" charset="-120"/>
              </a:rPr>
              <a:t>NAV Trend Analysis</a:t>
            </a:r>
            <a:endParaRPr lang="en-US" sz="1000" dirty="0"/>
          </a:p>
        </p:txBody>
      </p:sp>
      <p:pic>
        <p:nvPicPr>
          <p:cNvPr id="5" name="Image 0" descr="preencoded.png"/>
          <p:cNvPicPr>
            <a:picLocks noChangeAspect="1"/>
          </p:cNvPicPr>
          <p:nvPr/>
        </p:nvPicPr>
        <p:blipFill>
          <a:blip r:embed="rId3"/>
          <a:stretch>
            <a:fillRect/>
          </a:stretch>
        </p:blipFill>
        <p:spPr>
          <a:xfrm>
            <a:off x="426393" y="1603325"/>
            <a:ext cx="4015606" cy="2890391"/>
          </a:xfrm>
          <a:prstGeom prst="rect">
            <a:avLst/>
          </a:prstGeom>
        </p:spPr>
      </p:pic>
      <p:sp>
        <p:nvSpPr>
          <p:cNvPr id="6" name="Text 3"/>
          <p:cNvSpPr/>
          <p:nvPr/>
        </p:nvSpPr>
        <p:spPr>
          <a:xfrm>
            <a:off x="426393" y="4596705"/>
            <a:ext cx="4472806" cy="158576"/>
          </a:xfrm>
          <a:prstGeom prst="rect">
            <a:avLst/>
          </a:prstGeom>
          <a:noFill/>
          <a:ln/>
        </p:spPr>
        <p:txBody>
          <a:bodyPr wrap="none" lIns="0" tIns="0" rIns="0" bIns="0" rtlCol="0" anchor="t"/>
          <a:lstStyle/>
          <a:p>
            <a:pPr marL="0" indent="0" algn="l">
              <a:lnSpc>
                <a:spcPct val="124000"/>
              </a:lnSpc>
              <a:buNone/>
            </a:pPr>
            <a:r>
              <a:rPr lang="en-US" sz="800" dirty="0">
                <a:solidFill>
                  <a:srgbClr val="E5E0DF"/>
                </a:solidFill>
                <a:latin typeface="Roboto" pitchFamily="34" charset="0"/>
                <a:ea typeface="Roboto" pitchFamily="34" charset="-122"/>
                <a:cs typeface="Roboto" pitchFamily="34" charset="-120"/>
              </a:rPr>
              <a:t>NAV index shows strong 2023 growth, a 2024 correction, and recovery through 2026.</a:t>
            </a:r>
            <a:endParaRPr lang="en-US" sz="800" dirty="0"/>
          </a:p>
        </p:txBody>
      </p:sp>
      <p:sp>
        <p:nvSpPr>
          <p:cNvPr id="7" name="Text 4"/>
          <p:cNvSpPr/>
          <p:nvPr/>
        </p:nvSpPr>
        <p:spPr>
          <a:xfrm>
            <a:off x="4706764" y="1333798"/>
            <a:ext cx="2375669" cy="166539"/>
          </a:xfrm>
          <a:prstGeom prst="rect">
            <a:avLst/>
          </a:prstGeom>
          <a:noFill/>
          <a:ln/>
        </p:spPr>
        <p:txBody>
          <a:bodyPr wrap="none" lIns="0" tIns="0" rIns="0" bIns="0" rtlCol="0" anchor="t"/>
          <a:lstStyle/>
          <a:p>
            <a:pPr marL="0" indent="0" algn="l">
              <a:lnSpc>
                <a:spcPct val="104000"/>
              </a:lnSpc>
              <a:buNone/>
            </a:pPr>
            <a:r>
              <a:rPr lang="en-US" sz="1000" dirty="0">
                <a:solidFill>
                  <a:srgbClr val="FFFFFF"/>
                </a:solidFill>
                <a:latin typeface="Roboto Mono Medium" pitchFamily="34" charset="0"/>
                <a:ea typeface="Roboto Mono Medium" pitchFamily="34" charset="-122"/>
                <a:cs typeface="Roboto Mono Medium" pitchFamily="34" charset="-120"/>
              </a:rPr>
              <a:t>Monthly SIP Inflow Trend</a:t>
            </a:r>
            <a:endParaRPr lang="en-US" sz="1000" dirty="0"/>
          </a:p>
        </p:txBody>
      </p:sp>
      <p:pic>
        <p:nvPicPr>
          <p:cNvPr id="8" name="Image 1" descr="preencoded.png"/>
          <p:cNvPicPr>
            <a:picLocks noChangeAspect="1"/>
          </p:cNvPicPr>
          <p:nvPr/>
        </p:nvPicPr>
        <p:blipFill>
          <a:blip r:embed="rId4"/>
          <a:stretch>
            <a:fillRect/>
          </a:stretch>
        </p:blipFill>
        <p:spPr>
          <a:xfrm>
            <a:off x="4706764" y="1603325"/>
            <a:ext cx="4015606" cy="2890391"/>
          </a:xfrm>
          <a:prstGeom prst="rect">
            <a:avLst/>
          </a:prstGeom>
        </p:spPr>
      </p:pic>
      <p:sp>
        <p:nvSpPr>
          <p:cNvPr id="9" name="Text 5"/>
          <p:cNvSpPr/>
          <p:nvPr/>
        </p:nvSpPr>
        <p:spPr>
          <a:xfrm>
            <a:off x="4706764" y="4596705"/>
            <a:ext cx="4437236" cy="158576"/>
          </a:xfrm>
          <a:prstGeom prst="rect">
            <a:avLst/>
          </a:prstGeom>
          <a:noFill/>
          <a:ln/>
        </p:spPr>
        <p:txBody>
          <a:bodyPr wrap="none" lIns="0" tIns="0" rIns="0" bIns="0" rtlCol="0" anchor="t"/>
          <a:lstStyle/>
          <a:p>
            <a:pPr marL="0" indent="0" algn="l">
              <a:lnSpc>
                <a:spcPct val="124000"/>
              </a:lnSpc>
              <a:buNone/>
            </a:pPr>
            <a:r>
              <a:rPr lang="en-US" sz="800" dirty="0">
                <a:solidFill>
                  <a:srgbClr val="E5E0DF"/>
                </a:solidFill>
                <a:latin typeface="Roboto" pitchFamily="34" charset="0"/>
                <a:ea typeface="Roboto" pitchFamily="34" charset="-122"/>
                <a:cs typeface="Roboto" pitchFamily="34" charset="-120"/>
              </a:rPr>
              <a:t>SIP inflows grew consistently year-over-year, reflecting sustained investor adoption.</a:t>
            </a:r>
            <a:endParaRPr lang="en-US" sz="800" dirty="0"/>
          </a:p>
        </p:txBody>
      </p:sp>
      <p:sp>
        <p:nvSpPr>
          <p:cNvPr id="10" name="Rectangle: Rounded Corners 9">
            <a:extLst>
              <a:ext uri="{FF2B5EF4-FFF2-40B4-BE49-F238E27FC236}">
                <a16:creationId xmlns:a16="http://schemas.microsoft.com/office/drawing/2014/main" id="{21A17954-2180-19C1-5A64-5A92795BC5D0}"/>
              </a:ext>
            </a:extLst>
          </p:cNvPr>
          <p:cNvSpPr/>
          <p:nvPr/>
        </p:nvSpPr>
        <p:spPr>
          <a:xfrm>
            <a:off x="8039687" y="4881489"/>
            <a:ext cx="1019908" cy="182880"/>
          </a:xfrm>
          <a:prstGeom prst="roundRect">
            <a:avLst>
              <a:gd name="adj" fmla="val 0"/>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21643" y="308670"/>
            <a:ext cx="7544098" cy="320948"/>
          </a:xfrm>
          <a:prstGeom prst="rect">
            <a:avLst/>
          </a:prstGeom>
          <a:noFill/>
          <a:ln/>
        </p:spPr>
        <p:txBody>
          <a:bodyPr wrap="none" lIns="0" tIns="0" rIns="0" bIns="0" rtlCol="0" anchor="t"/>
          <a:lstStyle/>
          <a:p>
            <a:pPr marL="0" indent="0" algn="l">
              <a:lnSpc>
                <a:spcPct val="104000"/>
              </a:lnSpc>
              <a:buNone/>
            </a:pPr>
            <a:r>
              <a:rPr lang="en-US" sz="2000" dirty="0">
                <a:solidFill>
                  <a:srgbClr val="FFFFFF"/>
                </a:solidFill>
                <a:latin typeface="Roboto Mono Medium" pitchFamily="34" charset="0"/>
                <a:ea typeface="Roboto Mono Medium" pitchFamily="34" charset="-122"/>
                <a:cs typeface="Roboto Mono Medium" pitchFamily="34" charset="-120"/>
              </a:rPr>
              <a:t>EDA Highlights — Category Flows &amp; Folio Growth</a:t>
            </a:r>
            <a:endParaRPr lang="en-US" sz="2000" dirty="0"/>
          </a:p>
        </p:txBody>
      </p:sp>
      <p:sp>
        <p:nvSpPr>
          <p:cNvPr id="3" name="Text 1"/>
          <p:cNvSpPr/>
          <p:nvPr/>
        </p:nvSpPr>
        <p:spPr>
          <a:xfrm>
            <a:off x="521643" y="799728"/>
            <a:ext cx="8100640" cy="300335"/>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E5E0DF"/>
                </a:solidFill>
                <a:latin typeface="Roboto" pitchFamily="34" charset="0"/>
                <a:ea typeface="Roboto" pitchFamily="34" charset="-122"/>
                <a:cs typeface="Roboto" pitchFamily="34" charset="-120"/>
              </a:rPr>
              <a:t>Equity categories dominated fund inflows throughout the analysis period, reflecting strong risk appetite among retail and institutional investors. Investor participation surged dramatically — folio count nearly doubled between 2022 and 2026, signaling a structural shift toward formal investment channels in India.</a:t>
            </a:r>
            <a:endParaRPr lang="en-US" sz="800" dirty="0"/>
          </a:p>
        </p:txBody>
      </p:sp>
      <p:sp>
        <p:nvSpPr>
          <p:cNvPr id="4" name="Text 2"/>
          <p:cNvSpPr/>
          <p:nvPr/>
        </p:nvSpPr>
        <p:spPr>
          <a:xfrm>
            <a:off x="521643" y="1280815"/>
            <a:ext cx="2614092" cy="160511"/>
          </a:xfrm>
          <a:prstGeom prst="rect">
            <a:avLst/>
          </a:prstGeom>
          <a:noFill/>
          <a:ln/>
        </p:spPr>
        <p:txBody>
          <a:bodyPr wrap="none" lIns="0" tIns="0" rIns="0" bIns="0" rtlCol="0" anchor="t"/>
          <a:lstStyle/>
          <a:p>
            <a:pPr marL="0" indent="0" algn="l">
              <a:lnSpc>
                <a:spcPct val="104000"/>
              </a:lnSpc>
              <a:buNone/>
            </a:pPr>
            <a:r>
              <a:rPr lang="en-US" sz="1000" dirty="0">
                <a:solidFill>
                  <a:srgbClr val="FFFFFF"/>
                </a:solidFill>
                <a:latin typeface="Roboto Mono Medium" pitchFamily="34" charset="0"/>
                <a:ea typeface="Roboto Mono Medium" pitchFamily="34" charset="-122"/>
                <a:cs typeface="Roboto Mono Medium" pitchFamily="34" charset="-120"/>
              </a:rPr>
              <a:t>Category Inflow Distribution</a:t>
            </a:r>
            <a:endParaRPr lang="en-US" sz="1000" dirty="0"/>
          </a:p>
        </p:txBody>
      </p:sp>
      <p:pic>
        <p:nvPicPr>
          <p:cNvPr id="5" name="Image 0" descr="preencoded.png"/>
          <p:cNvPicPr>
            <a:picLocks noChangeAspect="1"/>
          </p:cNvPicPr>
          <p:nvPr/>
        </p:nvPicPr>
        <p:blipFill>
          <a:blip r:embed="rId3"/>
          <a:stretch>
            <a:fillRect/>
          </a:stretch>
        </p:blipFill>
        <p:spPr>
          <a:xfrm>
            <a:off x="521643" y="1537022"/>
            <a:ext cx="3924970" cy="2825204"/>
          </a:xfrm>
          <a:prstGeom prst="rect">
            <a:avLst/>
          </a:prstGeom>
        </p:spPr>
      </p:pic>
      <p:sp>
        <p:nvSpPr>
          <p:cNvPr id="6" name="Text 3"/>
          <p:cNvSpPr/>
          <p:nvPr/>
        </p:nvSpPr>
        <p:spPr>
          <a:xfrm>
            <a:off x="521643" y="4457923"/>
            <a:ext cx="4382170" cy="150168"/>
          </a:xfrm>
          <a:prstGeom prst="rect">
            <a:avLst/>
          </a:prstGeom>
          <a:noFill/>
          <a:ln/>
        </p:spPr>
        <p:txBody>
          <a:bodyPr wrap="none" lIns="0" tIns="0" rIns="0" bIns="0" rtlCol="0" anchor="t"/>
          <a:lstStyle/>
          <a:p>
            <a:pPr marL="0" indent="0" algn="l">
              <a:lnSpc>
                <a:spcPct val="122000"/>
              </a:lnSpc>
              <a:buNone/>
            </a:pPr>
            <a:r>
              <a:rPr lang="en-US" sz="800" dirty="0">
                <a:solidFill>
                  <a:srgbClr val="E5E0DF"/>
                </a:solidFill>
                <a:latin typeface="Roboto" pitchFamily="34" charset="0"/>
                <a:ea typeface="Roboto" pitchFamily="34" charset="-122"/>
                <a:cs typeface="Roboto" pitchFamily="34" charset="-120"/>
              </a:rPr>
              <a:t>Equity funds captured the largest share of total inflows across all categories.</a:t>
            </a:r>
            <a:endParaRPr lang="en-US" sz="800" dirty="0"/>
          </a:p>
        </p:txBody>
      </p:sp>
      <p:sp>
        <p:nvSpPr>
          <p:cNvPr id="7" name="Text 4"/>
          <p:cNvSpPr/>
          <p:nvPr/>
        </p:nvSpPr>
        <p:spPr>
          <a:xfrm>
            <a:off x="4702001" y="1280815"/>
            <a:ext cx="2614092" cy="160511"/>
          </a:xfrm>
          <a:prstGeom prst="rect">
            <a:avLst/>
          </a:prstGeom>
          <a:noFill/>
          <a:ln/>
        </p:spPr>
        <p:txBody>
          <a:bodyPr wrap="none" lIns="0" tIns="0" rIns="0" bIns="0" rtlCol="0" anchor="t"/>
          <a:lstStyle/>
          <a:p>
            <a:pPr marL="0" indent="0" algn="l">
              <a:lnSpc>
                <a:spcPct val="104000"/>
              </a:lnSpc>
              <a:buNone/>
            </a:pPr>
            <a:r>
              <a:rPr lang="en-US" sz="1000" dirty="0">
                <a:solidFill>
                  <a:srgbClr val="FFFFFF"/>
                </a:solidFill>
                <a:latin typeface="Roboto Mono Medium" pitchFamily="34" charset="0"/>
                <a:ea typeface="Roboto Mono Medium" pitchFamily="34" charset="-122"/>
                <a:cs typeface="Roboto Mono Medium" pitchFamily="34" charset="-120"/>
              </a:rPr>
              <a:t>Folio Count Growth (Indexed)</a:t>
            </a:r>
            <a:endParaRPr lang="en-US" sz="1000" dirty="0"/>
          </a:p>
        </p:txBody>
      </p:sp>
      <p:pic>
        <p:nvPicPr>
          <p:cNvPr id="8" name="Image 1" descr="preencoded.png"/>
          <p:cNvPicPr>
            <a:picLocks noChangeAspect="1"/>
          </p:cNvPicPr>
          <p:nvPr/>
        </p:nvPicPr>
        <p:blipFill>
          <a:blip r:embed="rId4"/>
          <a:stretch>
            <a:fillRect/>
          </a:stretch>
        </p:blipFill>
        <p:spPr>
          <a:xfrm>
            <a:off x="4702001" y="1537022"/>
            <a:ext cx="3924970" cy="2825204"/>
          </a:xfrm>
          <a:prstGeom prst="rect">
            <a:avLst/>
          </a:prstGeom>
        </p:spPr>
      </p:pic>
      <p:sp>
        <p:nvSpPr>
          <p:cNvPr id="9" name="Text 5"/>
          <p:cNvSpPr/>
          <p:nvPr/>
        </p:nvSpPr>
        <p:spPr>
          <a:xfrm>
            <a:off x="4702001" y="4457923"/>
            <a:ext cx="3924970" cy="300335"/>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E5E0DF"/>
                </a:solidFill>
                <a:latin typeface="Roboto" pitchFamily="34" charset="0"/>
                <a:ea typeface="Roboto" pitchFamily="34" charset="-122"/>
                <a:cs typeface="Roboto" pitchFamily="34" charset="-120"/>
              </a:rPr>
              <a:t>Folio count crossed the doubling threshold by 2026, confirming expanding investor base.</a:t>
            </a:r>
            <a:endParaRPr lang="en-US" sz="800" dirty="0"/>
          </a:p>
        </p:txBody>
      </p:sp>
      <p:sp>
        <p:nvSpPr>
          <p:cNvPr id="10" name="Rectangle: Rounded Corners 9">
            <a:extLst>
              <a:ext uri="{FF2B5EF4-FFF2-40B4-BE49-F238E27FC236}">
                <a16:creationId xmlns:a16="http://schemas.microsoft.com/office/drawing/2014/main" id="{F0A7B45C-92EF-CEAA-3E0B-AF96FA98B170}"/>
              </a:ext>
            </a:extLst>
          </p:cNvPr>
          <p:cNvSpPr/>
          <p:nvPr/>
        </p:nvSpPr>
        <p:spPr>
          <a:xfrm>
            <a:off x="8039687" y="4881489"/>
            <a:ext cx="1019908" cy="182880"/>
          </a:xfrm>
          <a:prstGeom prst="roundRect">
            <a:avLst>
              <a:gd name="adj" fmla="val 0"/>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827261"/>
            <a:ext cx="8151763" cy="775097"/>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FFFFFF"/>
                </a:solidFill>
                <a:latin typeface="Roboto Mono Medium" pitchFamily="34" charset="0"/>
                <a:ea typeface="Roboto Mono Medium" pitchFamily="34" charset="-122"/>
                <a:cs typeface="Roboto Mono Medium" pitchFamily="34" charset="-120"/>
              </a:rPr>
              <a:t>Performance Analytics — Risk-Adjusted Returns</a:t>
            </a:r>
            <a:endParaRPr lang="en-US" sz="2400" dirty="0"/>
          </a:p>
        </p:txBody>
      </p:sp>
      <p:sp>
        <p:nvSpPr>
          <p:cNvPr id="3" name="Text 1"/>
          <p:cNvSpPr/>
          <p:nvPr/>
        </p:nvSpPr>
        <p:spPr>
          <a:xfrm>
            <a:off x="496119" y="1850380"/>
            <a:ext cx="815176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5E0DF"/>
                </a:solidFill>
                <a:latin typeface="Roboto" pitchFamily="34" charset="0"/>
                <a:ea typeface="Roboto" pitchFamily="34" charset="-122"/>
                <a:cs typeface="Roboto" pitchFamily="34" charset="-120"/>
              </a:rPr>
              <a:t>Three core metrics were used to evaluate fund performance beyond raw returns. </a:t>
            </a:r>
            <a:r>
              <a:rPr lang="en-US" sz="950" b="1" dirty="0">
                <a:solidFill>
                  <a:srgbClr val="E5E0DF"/>
                </a:solidFill>
                <a:latin typeface="Roboto" pitchFamily="34" charset="0"/>
                <a:ea typeface="Roboto" pitchFamily="34" charset="-122"/>
                <a:cs typeface="Roboto" pitchFamily="34" charset="-120"/>
              </a:rPr>
              <a:t>CAGR</a:t>
            </a:r>
            <a:r>
              <a:rPr lang="en-US" sz="950" dirty="0">
                <a:solidFill>
                  <a:srgbClr val="E5E0DF"/>
                </a:solidFill>
                <a:latin typeface="Roboto" pitchFamily="34" charset="0"/>
                <a:ea typeface="Roboto" pitchFamily="34" charset="-122"/>
                <a:cs typeface="Roboto" pitchFamily="34" charset="-120"/>
              </a:rPr>
              <a:t> captures compounded growth over the holding period. The </a:t>
            </a:r>
            <a:r>
              <a:rPr lang="en-US" sz="950" b="1" dirty="0">
                <a:solidFill>
                  <a:srgbClr val="E5E0DF"/>
                </a:solidFill>
                <a:latin typeface="Roboto" pitchFamily="34" charset="0"/>
                <a:ea typeface="Roboto" pitchFamily="34" charset="-122"/>
                <a:cs typeface="Roboto" pitchFamily="34" charset="-120"/>
              </a:rPr>
              <a:t>Sharpe Ratio</a:t>
            </a:r>
            <a:r>
              <a:rPr lang="en-US" sz="950" dirty="0">
                <a:solidFill>
                  <a:srgbClr val="E5E0DF"/>
                </a:solidFill>
                <a:latin typeface="Roboto" pitchFamily="34" charset="0"/>
                <a:ea typeface="Roboto" pitchFamily="34" charset="-122"/>
                <a:cs typeface="Roboto" pitchFamily="34" charset="-120"/>
              </a:rPr>
              <a:t> measures excess return per unit of total risk. The </a:t>
            </a:r>
            <a:r>
              <a:rPr lang="en-US" sz="950" b="1" dirty="0">
                <a:solidFill>
                  <a:srgbClr val="E5E0DF"/>
                </a:solidFill>
                <a:latin typeface="Roboto" pitchFamily="34" charset="0"/>
                <a:ea typeface="Roboto" pitchFamily="34" charset="-122"/>
                <a:cs typeface="Roboto" pitchFamily="34" charset="-120"/>
              </a:rPr>
              <a:t>Sortino Ratio</a:t>
            </a:r>
            <a:r>
              <a:rPr lang="en-US" sz="950" dirty="0">
                <a:solidFill>
                  <a:srgbClr val="E5E0DF"/>
                </a:solidFill>
                <a:latin typeface="Roboto" pitchFamily="34" charset="0"/>
                <a:ea typeface="Roboto" pitchFamily="34" charset="-122"/>
                <a:cs typeface="Roboto" pitchFamily="34" charset="-120"/>
              </a:rPr>
              <a:t> refines this by penalizing only downside volatility — a more investor-relevant measure.</a:t>
            </a:r>
            <a:endParaRPr lang="en-US" sz="9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831" y="2585293"/>
            <a:ext cx="2648843" cy="1730946"/>
          </a:xfrm>
          <a:prstGeom prst="rect">
            <a:avLst/>
          </a:prstGeom>
        </p:spPr>
      </p:pic>
      <p:sp>
        <p:nvSpPr>
          <p:cNvPr id="5" name="Text 2"/>
          <p:cNvSpPr/>
          <p:nvPr/>
        </p:nvSpPr>
        <p:spPr>
          <a:xfrm>
            <a:off x="677242" y="2723555"/>
            <a:ext cx="2315170"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E5E0DF"/>
                </a:solidFill>
                <a:latin typeface="Roboto Mono Medium" pitchFamily="34" charset="0"/>
                <a:ea typeface="Roboto Mono Medium" pitchFamily="34" charset="-122"/>
                <a:cs typeface="Roboto Mono Medium" pitchFamily="34" charset="-120"/>
              </a:rPr>
              <a:t>CAGR — Wealth Creation Potential</a:t>
            </a:r>
            <a:endParaRPr lang="en-US" sz="1200" dirty="0"/>
          </a:p>
        </p:txBody>
      </p:sp>
      <p:sp>
        <p:nvSpPr>
          <p:cNvPr id="6" name="Text 3"/>
          <p:cNvSpPr/>
          <p:nvPr/>
        </p:nvSpPr>
        <p:spPr>
          <a:xfrm>
            <a:off x="677242" y="3185666"/>
            <a:ext cx="2315170"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5E0DF"/>
                </a:solidFill>
                <a:latin typeface="Roboto" pitchFamily="34" charset="0"/>
                <a:ea typeface="Roboto" pitchFamily="34" charset="-122"/>
                <a:cs typeface="Roboto" pitchFamily="34" charset="-120"/>
              </a:rPr>
              <a:t>Top-performing equity funds demonstrated strong long-term CAGR, confirming the power of disciplined, long-horizon investing in growth-oriented schemes.</a:t>
            </a:r>
            <a:endParaRPr lang="en-US" sz="95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40360" y="2585293"/>
            <a:ext cx="2648917" cy="1730946"/>
          </a:xfrm>
          <a:prstGeom prst="rect">
            <a:avLst/>
          </a:prstGeom>
        </p:spPr>
      </p:pic>
      <p:sp>
        <p:nvSpPr>
          <p:cNvPr id="8" name="Text 4"/>
          <p:cNvSpPr/>
          <p:nvPr/>
        </p:nvSpPr>
        <p:spPr>
          <a:xfrm>
            <a:off x="3435772" y="2723555"/>
            <a:ext cx="2315245"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E5E0DF"/>
                </a:solidFill>
                <a:latin typeface="Roboto Mono Medium" pitchFamily="34" charset="0"/>
                <a:ea typeface="Roboto Mono Medium" pitchFamily="34" charset="-122"/>
                <a:cs typeface="Roboto Mono Medium" pitchFamily="34" charset="-120"/>
              </a:rPr>
              <a:t>Sharpe Ratio — Risk Efficiency</a:t>
            </a:r>
            <a:endParaRPr lang="en-US" sz="1200" dirty="0"/>
          </a:p>
        </p:txBody>
      </p:sp>
      <p:sp>
        <p:nvSpPr>
          <p:cNvPr id="9" name="Text 5"/>
          <p:cNvSpPr/>
          <p:nvPr/>
        </p:nvSpPr>
        <p:spPr>
          <a:xfrm>
            <a:off x="3435772" y="3185666"/>
            <a:ext cx="2315245"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5E0DF"/>
                </a:solidFill>
                <a:latin typeface="Roboto" pitchFamily="34" charset="0"/>
                <a:ea typeface="Roboto" pitchFamily="34" charset="-122"/>
                <a:cs typeface="Roboto" pitchFamily="34" charset="-120"/>
              </a:rPr>
              <a:t>Funds with higher Sharpe Ratios delivered superior returns relative to the risk taken, outperforming peers on a risk-adjusted basis even when absolute returns were similar.</a:t>
            </a:r>
            <a:endParaRPr lang="en-US" sz="950" dirty="0"/>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98964" y="2585293"/>
            <a:ext cx="2648843" cy="1730946"/>
          </a:xfrm>
          <a:prstGeom prst="rect">
            <a:avLst/>
          </a:prstGeom>
        </p:spPr>
      </p:pic>
      <p:sp>
        <p:nvSpPr>
          <p:cNvPr id="11" name="Text 6"/>
          <p:cNvSpPr/>
          <p:nvPr/>
        </p:nvSpPr>
        <p:spPr>
          <a:xfrm>
            <a:off x="6194375" y="2723555"/>
            <a:ext cx="2315170"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E5E0DF"/>
                </a:solidFill>
                <a:latin typeface="Roboto Mono Medium" pitchFamily="34" charset="0"/>
                <a:ea typeface="Roboto Mono Medium" pitchFamily="34" charset="-122"/>
                <a:cs typeface="Roboto Mono Medium" pitchFamily="34" charset="-120"/>
              </a:rPr>
              <a:t>Sortino Ratio — Downside Protection</a:t>
            </a:r>
            <a:endParaRPr lang="en-US" sz="1200" dirty="0"/>
          </a:p>
        </p:txBody>
      </p:sp>
      <p:sp>
        <p:nvSpPr>
          <p:cNvPr id="12" name="Text 7"/>
          <p:cNvSpPr/>
          <p:nvPr/>
        </p:nvSpPr>
        <p:spPr>
          <a:xfrm>
            <a:off x="6194375" y="3185666"/>
            <a:ext cx="2315170"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5E0DF"/>
                </a:solidFill>
                <a:latin typeface="Roboto" pitchFamily="34" charset="0"/>
                <a:ea typeface="Roboto" pitchFamily="34" charset="-122"/>
                <a:cs typeface="Roboto" pitchFamily="34" charset="-120"/>
              </a:rPr>
              <a:t>Sortino analysis highlighted funds that minimized harmful volatility while preserving upside — a critical differentiator for conservative and moderate investors.</a:t>
            </a:r>
            <a:endParaRPr lang="en-US" sz="950" dirty="0"/>
          </a:p>
        </p:txBody>
      </p:sp>
      <p:sp>
        <p:nvSpPr>
          <p:cNvPr id="13" name="Rectangle: Rounded Corners 12">
            <a:extLst>
              <a:ext uri="{FF2B5EF4-FFF2-40B4-BE49-F238E27FC236}">
                <a16:creationId xmlns:a16="http://schemas.microsoft.com/office/drawing/2014/main" id="{E81F0C98-7735-6447-8537-E36454D91100}"/>
              </a:ext>
            </a:extLst>
          </p:cNvPr>
          <p:cNvSpPr/>
          <p:nvPr/>
        </p:nvSpPr>
        <p:spPr>
          <a:xfrm>
            <a:off x="8039687" y="4881489"/>
            <a:ext cx="1019908" cy="182880"/>
          </a:xfrm>
          <a:prstGeom prst="roundRect">
            <a:avLst>
              <a:gd name="adj" fmla="val 0"/>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80640" y="374228"/>
            <a:ext cx="8182719" cy="750987"/>
          </a:xfrm>
          <a:prstGeom prst="rect">
            <a:avLst/>
          </a:prstGeom>
          <a:noFill/>
          <a:ln/>
        </p:spPr>
        <p:txBody>
          <a:bodyPr wrap="square" lIns="0" tIns="0" rIns="0" bIns="0" rtlCol="0" anchor="t">
            <a:normAutofit/>
          </a:bodyPr>
          <a:lstStyle/>
          <a:p>
            <a:pPr marL="0" indent="0" algn="l">
              <a:lnSpc>
                <a:spcPct val="104000"/>
              </a:lnSpc>
              <a:buNone/>
            </a:pPr>
            <a:r>
              <a:rPr lang="en-US" sz="2350" dirty="0">
                <a:solidFill>
                  <a:srgbClr val="FFFFFF"/>
                </a:solidFill>
                <a:latin typeface="Roboto Mono Medium" pitchFamily="34" charset="0"/>
                <a:ea typeface="Roboto Mono Medium" pitchFamily="34" charset="-122"/>
                <a:cs typeface="Roboto Mono Medium" pitchFamily="34" charset="-120"/>
              </a:rPr>
              <a:t>Performance Analytics — Alpha, Beta &amp; Drawdown</a:t>
            </a:r>
            <a:endParaRPr lang="en-US" sz="2350" dirty="0"/>
          </a:p>
        </p:txBody>
      </p:sp>
      <p:sp>
        <p:nvSpPr>
          <p:cNvPr id="3" name="Text 1"/>
          <p:cNvSpPr/>
          <p:nvPr/>
        </p:nvSpPr>
        <p:spPr>
          <a:xfrm>
            <a:off x="480640" y="1357982"/>
            <a:ext cx="8182719" cy="567705"/>
          </a:xfrm>
          <a:prstGeom prst="rect">
            <a:avLst/>
          </a:prstGeom>
          <a:noFill/>
          <a:ln/>
        </p:spPr>
        <p:txBody>
          <a:bodyPr wrap="square" lIns="0" tIns="0" rIns="0" bIns="0" rtlCol="0" anchor="t">
            <a:normAutofit/>
          </a:bodyPr>
          <a:lstStyle/>
          <a:p>
            <a:pPr marL="0" indent="0" algn="l">
              <a:lnSpc>
                <a:spcPct val="131000"/>
              </a:lnSpc>
              <a:buNone/>
            </a:pPr>
            <a:r>
              <a:rPr lang="en-US" sz="900" dirty="0">
                <a:solidFill>
                  <a:srgbClr val="E5E0DF"/>
                </a:solidFill>
                <a:latin typeface="Roboto" pitchFamily="34" charset="0"/>
                <a:ea typeface="Roboto" pitchFamily="34" charset="-122"/>
                <a:cs typeface="Roboto" pitchFamily="34" charset="-120"/>
              </a:rPr>
              <a:t>Advanced metrics provided a deeper view of fund manager skill and downside resilience. </a:t>
            </a:r>
            <a:r>
              <a:rPr lang="en-US" sz="900" b="1" dirty="0">
                <a:solidFill>
                  <a:srgbClr val="E5E0DF"/>
                </a:solidFill>
                <a:latin typeface="Roboto" pitchFamily="34" charset="0"/>
                <a:ea typeface="Roboto" pitchFamily="34" charset="-122"/>
                <a:cs typeface="Roboto" pitchFamily="34" charset="-120"/>
              </a:rPr>
              <a:t>Alpha</a:t>
            </a:r>
            <a:r>
              <a:rPr lang="en-US" sz="900" dirty="0">
                <a:solidFill>
                  <a:srgbClr val="E5E0DF"/>
                </a:solidFill>
                <a:latin typeface="Roboto" pitchFamily="34" charset="0"/>
                <a:ea typeface="Roboto" pitchFamily="34" charset="-122"/>
                <a:cs typeface="Roboto" pitchFamily="34" charset="-120"/>
              </a:rPr>
              <a:t> measures outperformance relative to the benchmark. </a:t>
            </a:r>
            <a:r>
              <a:rPr lang="en-US" sz="900" b="1" dirty="0">
                <a:solidFill>
                  <a:srgbClr val="E5E0DF"/>
                </a:solidFill>
                <a:latin typeface="Roboto" pitchFamily="34" charset="0"/>
                <a:ea typeface="Roboto" pitchFamily="34" charset="-122"/>
                <a:cs typeface="Roboto" pitchFamily="34" charset="-120"/>
              </a:rPr>
              <a:t>Beta</a:t>
            </a:r>
            <a:r>
              <a:rPr lang="en-US" sz="900" dirty="0">
                <a:solidFill>
                  <a:srgbClr val="E5E0DF"/>
                </a:solidFill>
                <a:latin typeface="Roboto" pitchFamily="34" charset="0"/>
                <a:ea typeface="Roboto" pitchFamily="34" charset="-122"/>
                <a:cs typeface="Roboto" pitchFamily="34" charset="-120"/>
              </a:rPr>
              <a:t> quantifies market sensitivity. </a:t>
            </a:r>
            <a:r>
              <a:rPr lang="en-US" sz="900" b="1" dirty="0">
                <a:solidFill>
                  <a:srgbClr val="E5E0DF"/>
                </a:solidFill>
                <a:latin typeface="Roboto" pitchFamily="34" charset="0"/>
                <a:ea typeface="Roboto" pitchFamily="34" charset="-122"/>
                <a:cs typeface="Roboto" pitchFamily="34" charset="-120"/>
              </a:rPr>
              <a:t>Maximum Drawdown</a:t>
            </a:r>
            <a:r>
              <a:rPr lang="en-US" sz="900" dirty="0">
                <a:solidFill>
                  <a:srgbClr val="E5E0DF"/>
                </a:solidFill>
                <a:latin typeface="Roboto" pitchFamily="34" charset="0"/>
                <a:ea typeface="Roboto" pitchFamily="34" charset="-122"/>
                <a:cs typeface="Roboto" pitchFamily="34" charset="-120"/>
              </a:rPr>
              <a:t> reveals the largest peak-to-trough decline — a key stress indicator. A composite </a:t>
            </a:r>
            <a:r>
              <a:rPr lang="en-US" sz="900" b="1" dirty="0">
                <a:solidFill>
                  <a:srgbClr val="E5E0DF"/>
                </a:solidFill>
                <a:latin typeface="Roboto" pitchFamily="34" charset="0"/>
                <a:ea typeface="Roboto" pitchFamily="34" charset="-122"/>
                <a:cs typeface="Roboto" pitchFamily="34" charset="-120"/>
              </a:rPr>
              <a:t>Fund Scorecard</a:t>
            </a:r>
            <a:r>
              <a:rPr lang="en-US" sz="900" dirty="0">
                <a:solidFill>
                  <a:srgbClr val="E5E0DF"/>
                </a:solidFill>
                <a:latin typeface="Roboto" pitchFamily="34" charset="0"/>
                <a:ea typeface="Roboto" pitchFamily="34" charset="-122"/>
                <a:cs typeface="Roboto" pitchFamily="34" charset="-120"/>
              </a:rPr>
              <a:t> integrated all metrics into a unified ranking.</a:t>
            </a:r>
            <a:endParaRPr lang="en-US" sz="900" dirty="0"/>
          </a:p>
        </p:txBody>
      </p:sp>
      <p:sp>
        <p:nvSpPr>
          <p:cNvPr id="4" name="Text 2"/>
          <p:cNvSpPr/>
          <p:nvPr/>
        </p:nvSpPr>
        <p:spPr>
          <a:xfrm>
            <a:off x="480640" y="2116634"/>
            <a:ext cx="4018583" cy="396553"/>
          </a:xfrm>
          <a:prstGeom prst="rect">
            <a:avLst/>
          </a:prstGeom>
          <a:noFill/>
          <a:ln/>
        </p:spPr>
        <p:txBody>
          <a:bodyPr wrap="none" lIns="0" tIns="0" rIns="0" bIns="0" rtlCol="0" anchor="t"/>
          <a:lstStyle/>
          <a:p>
            <a:pPr marL="0" indent="0" algn="ctr">
              <a:lnSpc>
                <a:spcPct val="83000"/>
              </a:lnSpc>
              <a:buNone/>
            </a:pPr>
            <a:r>
              <a:rPr lang="en-US" sz="3100" dirty="0">
                <a:solidFill>
                  <a:srgbClr val="E5E0DF"/>
                </a:solidFill>
                <a:latin typeface="Roboto Mono Medium" pitchFamily="34" charset="0"/>
                <a:ea typeface="Roboto Mono Medium" pitchFamily="34" charset="-122"/>
                <a:cs typeface="Roboto Mono Medium" pitchFamily="34" charset="-120"/>
              </a:rPr>
              <a:t>68%</a:t>
            </a:r>
            <a:endParaRPr lang="en-US" sz="3100" dirty="0"/>
          </a:p>
        </p:txBody>
      </p:sp>
      <p:sp>
        <p:nvSpPr>
          <p:cNvPr id="5" name="Text 3"/>
          <p:cNvSpPr/>
          <p:nvPr/>
        </p:nvSpPr>
        <p:spPr>
          <a:xfrm>
            <a:off x="1363489" y="2660526"/>
            <a:ext cx="2252886" cy="187747"/>
          </a:xfrm>
          <a:prstGeom prst="rect">
            <a:avLst/>
          </a:prstGeom>
          <a:noFill/>
          <a:ln/>
        </p:spPr>
        <p:txBody>
          <a:bodyPr wrap="none" lIns="0" tIns="0" rIns="0" bIns="0" rtlCol="0" anchor="t"/>
          <a:lstStyle/>
          <a:p>
            <a:pPr marL="0" indent="0" algn="ctr">
              <a:lnSpc>
                <a:spcPct val="104000"/>
              </a:lnSpc>
              <a:buNone/>
            </a:pPr>
            <a:r>
              <a:rPr lang="en-US" sz="1150" dirty="0">
                <a:solidFill>
                  <a:srgbClr val="E5E0DF"/>
                </a:solidFill>
                <a:latin typeface="Roboto Mono Medium" pitchFamily="34" charset="0"/>
                <a:ea typeface="Roboto Mono Medium" pitchFamily="34" charset="-122"/>
                <a:cs typeface="Roboto Mono Medium" pitchFamily="34" charset="-120"/>
              </a:rPr>
              <a:t>Funds with Positive Alpha</a:t>
            </a:r>
            <a:endParaRPr lang="en-US" sz="1150" dirty="0"/>
          </a:p>
        </p:txBody>
      </p:sp>
      <p:sp>
        <p:nvSpPr>
          <p:cNvPr id="6" name="Text 4"/>
          <p:cNvSpPr/>
          <p:nvPr/>
        </p:nvSpPr>
        <p:spPr>
          <a:xfrm>
            <a:off x="480640" y="2918073"/>
            <a:ext cx="4018583" cy="378470"/>
          </a:xfrm>
          <a:prstGeom prst="rect">
            <a:avLst/>
          </a:prstGeom>
          <a:noFill/>
          <a:ln/>
        </p:spPr>
        <p:txBody>
          <a:bodyPr wrap="square" lIns="0" tIns="0" rIns="0" bIns="0" rtlCol="0" anchor="t">
            <a:normAutofit/>
          </a:bodyPr>
          <a:lstStyle/>
          <a:p>
            <a:pPr marL="0" indent="0" algn="ctr">
              <a:lnSpc>
                <a:spcPct val="131000"/>
              </a:lnSpc>
              <a:buNone/>
            </a:pPr>
            <a:r>
              <a:rPr lang="en-US" sz="900" dirty="0">
                <a:solidFill>
                  <a:srgbClr val="E5E0DF"/>
                </a:solidFill>
                <a:latin typeface="Roboto" pitchFamily="34" charset="0"/>
                <a:ea typeface="Roboto" pitchFamily="34" charset="-122"/>
                <a:cs typeface="Roboto" pitchFamily="34" charset="-120"/>
              </a:rPr>
              <a:t>Of analyzed equity funds generated alpha above their respective benchmarks.</a:t>
            </a:r>
            <a:endParaRPr lang="en-US" sz="900" dirty="0"/>
          </a:p>
        </p:txBody>
      </p:sp>
      <p:sp>
        <p:nvSpPr>
          <p:cNvPr id="7" name="Text 5"/>
          <p:cNvSpPr/>
          <p:nvPr/>
        </p:nvSpPr>
        <p:spPr>
          <a:xfrm>
            <a:off x="4644703" y="2116634"/>
            <a:ext cx="4018657" cy="396553"/>
          </a:xfrm>
          <a:prstGeom prst="rect">
            <a:avLst/>
          </a:prstGeom>
          <a:noFill/>
          <a:ln/>
        </p:spPr>
        <p:txBody>
          <a:bodyPr wrap="none" lIns="0" tIns="0" rIns="0" bIns="0" rtlCol="0" anchor="t"/>
          <a:lstStyle/>
          <a:p>
            <a:pPr marL="0" indent="0" algn="ctr">
              <a:lnSpc>
                <a:spcPct val="83000"/>
              </a:lnSpc>
              <a:buNone/>
            </a:pPr>
            <a:r>
              <a:rPr lang="en-US" sz="3100" dirty="0">
                <a:solidFill>
                  <a:srgbClr val="E5E0DF"/>
                </a:solidFill>
                <a:latin typeface="Roboto Mono Medium" pitchFamily="34" charset="0"/>
                <a:ea typeface="Roboto Mono Medium" pitchFamily="34" charset="-122"/>
                <a:cs typeface="Roboto Mono Medium" pitchFamily="34" charset="-120"/>
              </a:rPr>
              <a:t>1.1x</a:t>
            </a:r>
            <a:endParaRPr lang="en-US" sz="3100" dirty="0"/>
          </a:p>
        </p:txBody>
      </p:sp>
      <p:sp>
        <p:nvSpPr>
          <p:cNvPr id="8" name="Text 6"/>
          <p:cNvSpPr/>
          <p:nvPr/>
        </p:nvSpPr>
        <p:spPr>
          <a:xfrm>
            <a:off x="5707782" y="2660526"/>
            <a:ext cx="1892424" cy="187747"/>
          </a:xfrm>
          <a:prstGeom prst="rect">
            <a:avLst/>
          </a:prstGeom>
          <a:noFill/>
          <a:ln/>
        </p:spPr>
        <p:txBody>
          <a:bodyPr wrap="none" lIns="0" tIns="0" rIns="0" bIns="0" rtlCol="0" anchor="t"/>
          <a:lstStyle/>
          <a:p>
            <a:pPr marL="0" indent="0" algn="ctr">
              <a:lnSpc>
                <a:spcPct val="104000"/>
              </a:lnSpc>
              <a:buNone/>
            </a:pPr>
            <a:r>
              <a:rPr lang="en-US" sz="1150" dirty="0">
                <a:solidFill>
                  <a:srgbClr val="E5E0DF"/>
                </a:solidFill>
                <a:latin typeface="Roboto Mono Medium" pitchFamily="34" charset="0"/>
                <a:ea typeface="Roboto Mono Medium" pitchFamily="34" charset="-122"/>
                <a:cs typeface="Roboto Mono Medium" pitchFamily="34" charset="-120"/>
              </a:rPr>
              <a:t>Average Beta (Equity)</a:t>
            </a:r>
            <a:endParaRPr lang="en-US" sz="1150" dirty="0"/>
          </a:p>
        </p:txBody>
      </p:sp>
      <p:sp>
        <p:nvSpPr>
          <p:cNvPr id="9" name="Text 7"/>
          <p:cNvSpPr/>
          <p:nvPr/>
        </p:nvSpPr>
        <p:spPr>
          <a:xfrm>
            <a:off x="4644703" y="2918073"/>
            <a:ext cx="4018657" cy="378470"/>
          </a:xfrm>
          <a:prstGeom prst="rect">
            <a:avLst/>
          </a:prstGeom>
          <a:noFill/>
          <a:ln/>
        </p:spPr>
        <p:txBody>
          <a:bodyPr wrap="square" lIns="0" tIns="0" rIns="0" bIns="0" rtlCol="0" anchor="t">
            <a:normAutofit/>
          </a:bodyPr>
          <a:lstStyle/>
          <a:p>
            <a:pPr marL="0" indent="0" algn="ctr">
              <a:lnSpc>
                <a:spcPct val="131000"/>
              </a:lnSpc>
              <a:buNone/>
            </a:pPr>
            <a:r>
              <a:rPr lang="en-US" sz="900" dirty="0">
                <a:solidFill>
                  <a:srgbClr val="E5E0DF"/>
                </a:solidFill>
                <a:latin typeface="Roboto" pitchFamily="34" charset="0"/>
                <a:ea typeface="Roboto" pitchFamily="34" charset="-122"/>
                <a:cs typeface="Roboto" pitchFamily="34" charset="-120"/>
              </a:rPr>
              <a:t>Equity funds showed slightly higher market sensitivity, typical for growth-oriented strategies.</a:t>
            </a:r>
            <a:endParaRPr lang="en-US" sz="900" dirty="0"/>
          </a:p>
        </p:txBody>
      </p:sp>
      <p:sp>
        <p:nvSpPr>
          <p:cNvPr id="10" name="Text 8"/>
          <p:cNvSpPr/>
          <p:nvPr/>
        </p:nvSpPr>
        <p:spPr>
          <a:xfrm>
            <a:off x="480640" y="3589362"/>
            <a:ext cx="4018583" cy="396553"/>
          </a:xfrm>
          <a:prstGeom prst="rect">
            <a:avLst/>
          </a:prstGeom>
          <a:noFill/>
          <a:ln/>
        </p:spPr>
        <p:txBody>
          <a:bodyPr wrap="none" lIns="0" tIns="0" rIns="0" bIns="0" rtlCol="0" anchor="t"/>
          <a:lstStyle/>
          <a:p>
            <a:pPr marL="0" indent="0" algn="ctr">
              <a:lnSpc>
                <a:spcPct val="83000"/>
              </a:lnSpc>
              <a:buNone/>
            </a:pPr>
            <a:r>
              <a:rPr lang="en-US" sz="3100" dirty="0">
                <a:solidFill>
                  <a:srgbClr val="E5E0DF"/>
                </a:solidFill>
                <a:latin typeface="Roboto Mono Medium" pitchFamily="34" charset="0"/>
                <a:ea typeface="Roboto Mono Medium" pitchFamily="34" charset="-122"/>
                <a:cs typeface="Roboto Mono Medium" pitchFamily="34" charset="-120"/>
              </a:rPr>
              <a:t>18%</a:t>
            </a:r>
            <a:endParaRPr lang="en-US" sz="3100" dirty="0"/>
          </a:p>
        </p:txBody>
      </p:sp>
      <p:sp>
        <p:nvSpPr>
          <p:cNvPr id="11" name="Text 9"/>
          <p:cNvSpPr/>
          <p:nvPr/>
        </p:nvSpPr>
        <p:spPr>
          <a:xfrm>
            <a:off x="1678856" y="4133255"/>
            <a:ext cx="1622078" cy="187747"/>
          </a:xfrm>
          <a:prstGeom prst="rect">
            <a:avLst/>
          </a:prstGeom>
          <a:noFill/>
          <a:ln/>
        </p:spPr>
        <p:txBody>
          <a:bodyPr wrap="none" lIns="0" tIns="0" rIns="0" bIns="0" rtlCol="0" anchor="t"/>
          <a:lstStyle/>
          <a:p>
            <a:pPr marL="0" indent="0" algn="ctr">
              <a:lnSpc>
                <a:spcPct val="104000"/>
              </a:lnSpc>
              <a:buNone/>
            </a:pPr>
            <a:r>
              <a:rPr lang="en-US" sz="1150" dirty="0">
                <a:solidFill>
                  <a:srgbClr val="E5E0DF"/>
                </a:solidFill>
                <a:latin typeface="Roboto Mono Medium" pitchFamily="34" charset="0"/>
                <a:ea typeface="Roboto Mono Medium" pitchFamily="34" charset="-122"/>
                <a:cs typeface="Roboto Mono Medium" pitchFamily="34" charset="-120"/>
              </a:rPr>
              <a:t>Max Drawdown (Avg)</a:t>
            </a:r>
            <a:endParaRPr lang="en-US" sz="1150" dirty="0"/>
          </a:p>
        </p:txBody>
      </p:sp>
      <p:sp>
        <p:nvSpPr>
          <p:cNvPr id="12" name="Text 10"/>
          <p:cNvSpPr/>
          <p:nvPr/>
        </p:nvSpPr>
        <p:spPr>
          <a:xfrm>
            <a:off x="480640" y="4390802"/>
            <a:ext cx="4018583" cy="378470"/>
          </a:xfrm>
          <a:prstGeom prst="rect">
            <a:avLst/>
          </a:prstGeom>
          <a:noFill/>
          <a:ln/>
        </p:spPr>
        <p:txBody>
          <a:bodyPr wrap="square" lIns="0" tIns="0" rIns="0" bIns="0" rtlCol="0" anchor="t">
            <a:normAutofit/>
          </a:bodyPr>
          <a:lstStyle/>
          <a:p>
            <a:pPr marL="0" indent="0" algn="ctr">
              <a:lnSpc>
                <a:spcPct val="131000"/>
              </a:lnSpc>
              <a:buNone/>
            </a:pPr>
            <a:r>
              <a:rPr lang="en-US" sz="900" dirty="0">
                <a:solidFill>
                  <a:srgbClr val="E5E0DF"/>
                </a:solidFill>
                <a:latin typeface="Roboto" pitchFamily="34" charset="0"/>
                <a:ea typeface="Roboto" pitchFamily="34" charset="-122"/>
                <a:cs typeface="Roboto" pitchFamily="34" charset="-120"/>
              </a:rPr>
              <a:t>Average maximum drawdown across top equity funds during the 2024 correction period.</a:t>
            </a:r>
            <a:endParaRPr lang="en-US" sz="900" dirty="0"/>
          </a:p>
        </p:txBody>
      </p:sp>
      <p:sp>
        <p:nvSpPr>
          <p:cNvPr id="13" name="Text 11"/>
          <p:cNvSpPr/>
          <p:nvPr/>
        </p:nvSpPr>
        <p:spPr>
          <a:xfrm>
            <a:off x="4644703" y="3589362"/>
            <a:ext cx="4018657" cy="396553"/>
          </a:xfrm>
          <a:prstGeom prst="rect">
            <a:avLst/>
          </a:prstGeom>
          <a:noFill/>
          <a:ln/>
        </p:spPr>
        <p:txBody>
          <a:bodyPr wrap="none" lIns="0" tIns="0" rIns="0" bIns="0" rtlCol="0" anchor="t"/>
          <a:lstStyle/>
          <a:p>
            <a:pPr marL="0" indent="0" algn="ctr">
              <a:lnSpc>
                <a:spcPct val="83000"/>
              </a:lnSpc>
              <a:buNone/>
            </a:pPr>
            <a:r>
              <a:rPr lang="en-US" sz="3100" dirty="0">
                <a:solidFill>
                  <a:srgbClr val="E5E0DF"/>
                </a:solidFill>
                <a:latin typeface="Roboto Mono Medium" pitchFamily="34" charset="0"/>
                <a:ea typeface="Roboto Mono Medium" pitchFamily="34" charset="-122"/>
                <a:cs typeface="Roboto Mono Medium" pitchFamily="34" charset="-120"/>
              </a:rPr>
              <a:t>10</a:t>
            </a:r>
            <a:endParaRPr lang="en-US" sz="3100" dirty="0"/>
          </a:p>
        </p:txBody>
      </p:sp>
      <p:sp>
        <p:nvSpPr>
          <p:cNvPr id="14" name="Text 12"/>
          <p:cNvSpPr/>
          <p:nvPr/>
        </p:nvSpPr>
        <p:spPr>
          <a:xfrm>
            <a:off x="5662761" y="4133255"/>
            <a:ext cx="1982539" cy="187747"/>
          </a:xfrm>
          <a:prstGeom prst="rect">
            <a:avLst/>
          </a:prstGeom>
          <a:noFill/>
          <a:ln/>
        </p:spPr>
        <p:txBody>
          <a:bodyPr wrap="none" lIns="0" tIns="0" rIns="0" bIns="0" rtlCol="0" anchor="t"/>
          <a:lstStyle/>
          <a:p>
            <a:pPr marL="0" indent="0" algn="ctr">
              <a:lnSpc>
                <a:spcPct val="104000"/>
              </a:lnSpc>
              <a:buNone/>
            </a:pPr>
            <a:r>
              <a:rPr lang="en-US" sz="1150" dirty="0">
                <a:solidFill>
                  <a:srgbClr val="E5E0DF"/>
                </a:solidFill>
                <a:latin typeface="Roboto Mono Medium" pitchFamily="34" charset="0"/>
                <a:ea typeface="Roboto Mono Medium" pitchFamily="34" charset="-122"/>
                <a:cs typeface="Roboto Mono Medium" pitchFamily="34" charset="-120"/>
              </a:rPr>
              <a:t>Fund Scorecard Factors</a:t>
            </a:r>
            <a:endParaRPr lang="en-US" sz="1150" dirty="0"/>
          </a:p>
        </p:txBody>
      </p:sp>
      <p:sp>
        <p:nvSpPr>
          <p:cNvPr id="15" name="Text 13"/>
          <p:cNvSpPr/>
          <p:nvPr/>
        </p:nvSpPr>
        <p:spPr>
          <a:xfrm>
            <a:off x="4644703" y="4390802"/>
            <a:ext cx="4018657" cy="378470"/>
          </a:xfrm>
          <a:prstGeom prst="rect">
            <a:avLst/>
          </a:prstGeom>
          <a:noFill/>
          <a:ln/>
        </p:spPr>
        <p:txBody>
          <a:bodyPr wrap="square" lIns="0" tIns="0" rIns="0" bIns="0" rtlCol="0" anchor="t">
            <a:normAutofit/>
          </a:bodyPr>
          <a:lstStyle/>
          <a:p>
            <a:pPr marL="0" indent="0" algn="ctr">
              <a:lnSpc>
                <a:spcPct val="131000"/>
              </a:lnSpc>
              <a:buNone/>
            </a:pPr>
            <a:r>
              <a:rPr lang="en-US" sz="900" dirty="0">
                <a:solidFill>
                  <a:srgbClr val="E5E0DF"/>
                </a:solidFill>
                <a:latin typeface="Roboto" pitchFamily="34" charset="0"/>
                <a:ea typeface="Roboto" pitchFamily="34" charset="-122"/>
                <a:cs typeface="Roboto" pitchFamily="34" charset="-120"/>
              </a:rPr>
              <a:t>Composite ranking methodology incorporating returns, risk, consistency, and benchmark outperformance.</a:t>
            </a:r>
            <a:endParaRPr lang="en-US" sz="900" dirty="0"/>
          </a:p>
        </p:txBody>
      </p:sp>
      <p:sp>
        <p:nvSpPr>
          <p:cNvPr id="16" name="Rectangle: Rounded Corners 15">
            <a:extLst>
              <a:ext uri="{FF2B5EF4-FFF2-40B4-BE49-F238E27FC236}">
                <a16:creationId xmlns:a16="http://schemas.microsoft.com/office/drawing/2014/main" id="{08B6206C-30DE-606B-B500-828409508B31}"/>
              </a:ext>
            </a:extLst>
          </p:cNvPr>
          <p:cNvSpPr/>
          <p:nvPr/>
        </p:nvSpPr>
        <p:spPr>
          <a:xfrm>
            <a:off x="8039687" y="4881489"/>
            <a:ext cx="1019908" cy="182880"/>
          </a:xfrm>
          <a:prstGeom prst="roundRect">
            <a:avLst>
              <a:gd name="adj" fmla="val 0"/>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1032718"/>
            <a:ext cx="5481414" cy="387548"/>
          </a:xfrm>
          <a:prstGeom prst="rect">
            <a:avLst/>
          </a:prstGeom>
          <a:noFill/>
          <a:ln/>
        </p:spPr>
        <p:txBody>
          <a:bodyPr wrap="none" lIns="0" tIns="0" rIns="0" bIns="0" rtlCol="0" anchor="t"/>
          <a:lstStyle/>
          <a:p>
            <a:pPr marL="0" indent="0" algn="l">
              <a:lnSpc>
                <a:spcPct val="104000"/>
              </a:lnSpc>
              <a:buNone/>
            </a:pPr>
            <a:r>
              <a:rPr lang="en-US" sz="2400" dirty="0">
                <a:solidFill>
                  <a:srgbClr val="FFFFFF"/>
                </a:solidFill>
                <a:latin typeface="Roboto Mono Medium" pitchFamily="34" charset="0"/>
                <a:ea typeface="Roboto Mono Medium" pitchFamily="34" charset="-122"/>
                <a:cs typeface="Roboto Mono Medium" pitchFamily="34" charset="-120"/>
              </a:rPr>
              <a:t>Power BI Dashboard Overview</a:t>
            </a:r>
            <a:endParaRPr lang="en-US" sz="2400" dirty="0"/>
          </a:p>
        </p:txBody>
      </p:sp>
      <p:sp>
        <p:nvSpPr>
          <p:cNvPr id="3" name="Text 1"/>
          <p:cNvSpPr/>
          <p:nvPr/>
        </p:nvSpPr>
        <p:spPr>
          <a:xfrm>
            <a:off x="496119" y="1668289"/>
            <a:ext cx="815176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5E0DF"/>
                </a:solidFill>
                <a:latin typeface="Roboto" pitchFamily="34" charset="0"/>
                <a:ea typeface="Roboto" pitchFamily="34" charset="-122"/>
                <a:cs typeface="Roboto" pitchFamily="34" charset="-120"/>
              </a:rPr>
              <a:t>Four interactive dashboard pages were developed in Power BI, each serving a distinct analytical purpose. Together, they enable stakeholders to explore industry trends, compare fund performance, analyze investor behavior, and track SIP and market dynamics — all from a single, cohesive reporting environment.</a:t>
            </a:r>
            <a:endParaRPr lang="en-US" sz="950" dirty="0"/>
          </a:p>
        </p:txBody>
      </p:sp>
      <p:sp>
        <p:nvSpPr>
          <p:cNvPr id="5" name="Text 2"/>
          <p:cNvSpPr/>
          <p:nvPr/>
        </p:nvSpPr>
        <p:spPr>
          <a:xfrm>
            <a:off x="496119" y="3246983"/>
            <a:ext cx="1581373" cy="193849"/>
          </a:xfrm>
          <a:prstGeom prst="rect">
            <a:avLst/>
          </a:prstGeom>
          <a:noFill/>
          <a:ln/>
        </p:spPr>
        <p:txBody>
          <a:bodyPr wrap="none" lIns="0" tIns="0" rIns="0" bIns="0" rtlCol="0" anchor="t"/>
          <a:lstStyle/>
          <a:p>
            <a:pPr marL="0" indent="0" algn="l">
              <a:lnSpc>
                <a:spcPct val="104000"/>
              </a:lnSpc>
              <a:buNone/>
            </a:pPr>
            <a:r>
              <a:rPr lang="en-US" sz="1200" dirty="0">
                <a:solidFill>
                  <a:srgbClr val="E5E0DF"/>
                </a:solidFill>
                <a:latin typeface="Roboto Mono Medium" pitchFamily="34" charset="0"/>
                <a:ea typeface="Roboto Mono Medium" pitchFamily="34" charset="-122"/>
                <a:cs typeface="Roboto Mono Medium" pitchFamily="34" charset="-120"/>
              </a:rPr>
              <a:t>Industry Overview</a:t>
            </a:r>
            <a:endParaRPr lang="en-US" sz="1200" dirty="0"/>
          </a:p>
        </p:txBody>
      </p:sp>
      <p:sp>
        <p:nvSpPr>
          <p:cNvPr id="6" name="Text 3"/>
          <p:cNvSpPr/>
          <p:nvPr/>
        </p:nvSpPr>
        <p:spPr>
          <a:xfrm>
            <a:off x="496119" y="3515246"/>
            <a:ext cx="1921669"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5E0DF"/>
                </a:solidFill>
                <a:latin typeface="Roboto" pitchFamily="34" charset="0"/>
                <a:ea typeface="Roboto" pitchFamily="34" charset="-122"/>
                <a:cs typeface="Roboto" pitchFamily="34" charset="-120"/>
              </a:rPr>
              <a:t>High-level AUM trends, category-wise inflows, and market-wide folio growth at a glance.</a:t>
            </a:r>
            <a:endParaRPr lang="en-US" sz="950" dirty="0"/>
          </a:p>
        </p:txBody>
      </p:sp>
      <p:sp>
        <p:nvSpPr>
          <p:cNvPr id="8" name="Text 4"/>
          <p:cNvSpPr/>
          <p:nvPr/>
        </p:nvSpPr>
        <p:spPr>
          <a:xfrm>
            <a:off x="2572792" y="3246983"/>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E5E0DF"/>
                </a:solidFill>
                <a:latin typeface="Roboto Mono Medium" pitchFamily="34" charset="0"/>
                <a:ea typeface="Roboto Mono Medium" pitchFamily="34" charset="-122"/>
                <a:cs typeface="Roboto Mono Medium" pitchFamily="34" charset="-120"/>
              </a:rPr>
              <a:t>Fund Performance</a:t>
            </a:r>
            <a:endParaRPr lang="en-US" sz="1200" dirty="0"/>
          </a:p>
        </p:txBody>
      </p:sp>
      <p:sp>
        <p:nvSpPr>
          <p:cNvPr id="9" name="Text 5"/>
          <p:cNvSpPr/>
          <p:nvPr/>
        </p:nvSpPr>
        <p:spPr>
          <a:xfrm>
            <a:off x="2572792" y="3515246"/>
            <a:ext cx="1921669"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5E0DF"/>
                </a:solidFill>
                <a:latin typeface="Roboto" pitchFamily="34" charset="0"/>
                <a:ea typeface="Roboto" pitchFamily="34" charset="-122"/>
                <a:cs typeface="Roboto" pitchFamily="34" charset="-120"/>
              </a:rPr>
              <a:t>Side-by-side fund comparisons with CAGR, Sharpe, Sortino, and benchmark-relative metrics.</a:t>
            </a:r>
            <a:endParaRPr lang="en-US" sz="950" dirty="0"/>
          </a:p>
        </p:txBody>
      </p:sp>
      <p:sp>
        <p:nvSpPr>
          <p:cNvPr id="11" name="Text 6"/>
          <p:cNvSpPr/>
          <p:nvPr/>
        </p:nvSpPr>
        <p:spPr>
          <a:xfrm>
            <a:off x="4649465" y="3246983"/>
            <a:ext cx="1674391" cy="193849"/>
          </a:xfrm>
          <a:prstGeom prst="rect">
            <a:avLst/>
          </a:prstGeom>
          <a:noFill/>
          <a:ln/>
        </p:spPr>
        <p:txBody>
          <a:bodyPr wrap="none" lIns="0" tIns="0" rIns="0" bIns="0" rtlCol="0" anchor="t"/>
          <a:lstStyle/>
          <a:p>
            <a:pPr marL="0" indent="0" algn="l">
              <a:lnSpc>
                <a:spcPct val="104000"/>
              </a:lnSpc>
              <a:buNone/>
            </a:pPr>
            <a:r>
              <a:rPr lang="en-US" sz="1200" dirty="0">
                <a:solidFill>
                  <a:srgbClr val="E5E0DF"/>
                </a:solidFill>
                <a:latin typeface="Roboto Mono Medium" pitchFamily="34" charset="0"/>
                <a:ea typeface="Roboto Mono Medium" pitchFamily="34" charset="-122"/>
                <a:cs typeface="Roboto Mono Medium" pitchFamily="34" charset="-120"/>
              </a:rPr>
              <a:t>Investor Analytics</a:t>
            </a:r>
            <a:endParaRPr lang="en-US" sz="1200" dirty="0"/>
          </a:p>
        </p:txBody>
      </p:sp>
      <p:sp>
        <p:nvSpPr>
          <p:cNvPr id="12" name="Text 7"/>
          <p:cNvSpPr/>
          <p:nvPr/>
        </p:nvSpPr>
        <p:spPr>
          <a:xfrm>
            <a:off x="4649465" y="3515246"/>
            <a:ext cx="1921669"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5E0DF"/>
                </a:solidFill>
                <a:latin typeface="Roboto" pitchFamily="34" charset="0"/>
                <a:ea typeface="Roboto" pitchFamily="34" charset="-122"/>
                <a:cs typeface="Roboto" pitchFamily="34" charset="-120"/>
              </a:rPr>
              <a:t>Folio count trends, transaction patterns, and investor participation metrics by category.</a:t>
            </a:r>
            <a:endParaRPr lang="en-US" sz="950" dirty="0"/>
          </a:p>
        </p:txBody>
      </p:sp>
      <p:sp>
        <p:nvSpPr>
          <p:cNvPr id="14" name="Text 8"/>
          <p:cNvSpPr/>
          <p:nvPr/>
        </p:nvSpPr>
        <p:spPr>
          <a:xfrm>
            <a:off x="6726138" y="3247058"/>
            <a:ext cx="1767408" cy="193849"/>
          </a:xfrm>
          <a:prstGeom prst="rect">
            <a:avLst/>
          </a:prstGeom>
          <a:noFill/>
          <a:ln/>
        </p:spPr>
        <p:txBody>
          <a:bodyPr wrap="none" lIns="0" tIns="0" rIns="0" bIns="0" rtlCol="0" anchor="t"/>
          <a:lstStyle/>
          <a:p>
            <a:pPr marL="0" indent="0" algn="l">
              <a:lnSpc>
                <a:spcPct val="104000"/>
              </a:lnSpc>
              <a:buNone/>
            </a:pPr>
            <a:r>
              <a:rPr lang="en-US" sz="1200" dirty="0">
                <a:solidFill>
                  <a:srgbClr val="E5E0DF"/>
                </a:solidFill>
                <a:latin typeface="Roboto Mono Medium" pitchFamily="34" charset="0"/>
                <a:ea typeface="Roboto Mono Medium" pitchFamily="34" charset="-122"/>
                <a:cs typeface="Roboto Mono Medium" pitchFamily="34" charset="-120"/>
              </a:rPr>
              <a:t>SIP &amp; Market Trends</a:t>
            </a:r>
            <a:endParaRPr lang="en-US" sz="1200" dirty="0"/>
          </a:p>
        </p:txBody>
      </p:sp>
      <p:sp>
        <p:nvSpPr>
          <p:cNvPr id="15" name="Text 9"/>
          <p:cNvSpPr/>
          <p:nvPr/>
        </p:nvSpPr>
        <p:spPr>
          <a:xfrm>
            <a:off x="6726138" y="3515320"/>
            <a:ext cx="192174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E5E0DF"/>
                </a:solidFill>
                <a:latin typeface="Roboto" pitchFamily="34" charset="0"/>
                <a:ea typeface="Roboto" pitchFamily="34" charset="-122"/>
                <a:cs typeface="Roboto" pitchFamily="34" charset="-120"/>
              </a:rPr>
              <a:t>Monthly SIP inflow trajectories, NAV movements, and category-level flow analysis over time.</a:t>
            </a:r>
            <a:endParaRPr lang="en-US" sz="950" dirty="0"/>
          </a:p>
        </p:txBody>
      </p:sp>
      <p:sp>
        <p:nvSpPr>
          <p:cNvPr id="16" name="Rectangle: Rounded Corners 15">
            <a:extLst>
              <a:ext uri="{FF2B5EF4-FFF2-40B4-BE49-F238E27FC236}">
                <a16:creationId xmlns:a16="http://schemas.microsoft.com/office/drawing/2014/main" id="{26990BCE-C93E-F110-1B2B-CEE7D21BC18A}"/>
              </a:ext>
            </a:extLst>
          </p:cNvPr>
          <p:cNvSpPr/>
          <p:nvPr/>
        </p:nvSpPr>
        <p:spPr>
          <a:xfrm>
            <a:off x="8039687" y="4881489"/>
            <a:ext cx="1019908" cy="182880"/>
          </a:xfrm>
          <a:prstGeom prst="roundRect">
            <a:avLst>
              <a:gd name="adj" fmla="val 0"/>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13BF23C2-66BD-7DC7-D9CA-F9BE91E70D23}"/>
              </a:ext>
            </a:extLst>
          </p:cNvPr>
          <p:cNvPicPr>
            <a:picLocks noChangeAspect="1"/>
          </p:cNvPicPr>
          <p:nvPr/>
        </p:nvPicPr>
        <p:blipFill>
          <a:blip r:embed="rId3"/>
          <a:stretch>
            <a:fillRect/>
          </a:stretch>
        </p:blipFill>
        <p:spPr>
          <a:xfrm>
            <a:off x="583810" y="2330335"/>
            <a:ext cx="1581373" cy="849988"/>
          </a:xfrm>
          <a:prstGeom prst="rect">
            <a:avLst/>
          </a:prstGeom>
        </p:spPr>
      </p:pic>
      <p:pic>
        <p:nvPicPr>
          <p:cNvPr id="20" name="Picture 19">
            <a:extLst>
              <a:ext uri="{FF2B5EF4-FFF2-40B4-BE49-F238E27FC236}">
                <a16:creationId xmlns:a16="http://schemas.microsoft.com/office/drawing/2014/main" id="{83CD5F03-4A94-EEBF-73E8-3F994D631B70}"/>
              </a:ext>
            </a:extLst>
          </p:cNvPr>
          <p:cNvPicPr>
            <a:picLocks noChangeAspect="1"/>
          </p:cNvPicPr>
          <p:nvPr/>
        </p:nvPicPr>
        <p:blipFill>
          <a:blip r:embed="rId4"/>
          <a:stretch>
            <a:fillRect/>
          </a:stretch>
        </p:blipFill>
        <p:spPr>
          <a:xfrm>
            <a:off x="2433378" y="2330335"/>
            <a:ext cx="1829395" cy="842234"/>
          </a:xfrm>
          <a:prstGeom prst="rect">
            <a:avLst/>
          </a:prstGeom>
        </p:spPr>
      </p:pic>
      <p:pic>
        <p:nvPicPr>
          <p:cNvPr id="22" name="Picture 21">
            <a:extLst>
              <a:ext uri="{FF2B5EF4-FFF2-40B4-BE49-F238E27FC236}">
                <a16:creationId xmlns:a16="http://schemas.microsoft.com/office/drawing/2014/main" id="{BBB647E7-0717-0FAB-07EA-EE67DEBE2080}"/>
              </a:ext>
            </a:extLst>
          </p:cNvPr>
          <p:cNvPicPr>
            <a:picLocks noChangeAspect="1"/>
          </p:cNvPicPr>
          <p:nvPr/>
        </p:nvPicPr>
        <p:blipFill>
          <a:blip r:embed="rId5"/>
          <a:stretch>
            <a:fillRect/>
          </a:stretch>
        </p:blipFill>
        <p:spPr>
          <a:xfrm>
            <a:off x="4628548" y="2338088"/>
            <a:ext cx="1674391" cy="842234"/>
          </a:xfrm>
          <a:prstGeom prst="rect">
            <a:avLst/>
          </a:prstGeom>
        </p:spPr>
      </p:pic>
      <p:pic>
        <p:nvPicPr>
          <p:cNvPr id="24" name="Picture 23">
            <a:extLst>
              <a:ext uri="{FF2B5EF4-FFF2-40B4-BE49-F238E27FC236}">
                <a16:creationId xmlns:a16="http://schemas.microsoft.com/office/drawing/2014/main" id="{B8D64AC5-1ECE-87F7-7188-D72A192A9280}"/>
              </a:ext>
            </a:extLst>
          </p:cNvPr>
          <p:cNvPicPr>
            <a:picLocks noChangeAspect="1"/>
          </p:cNvPicPr>
          <p:nvPr/>
        </p:nvPicPr>
        <p:blipFill>
          <a:blip r:embed="rId6"/>
          <a:stretch>
            <a:fillRect/>
          </a:stretch>
        </p:blipFill>
        <p:spPr>
          <a:xfrm>
            <a:off x="6631791" y="2338088"/>
            <a:ext cx="1767408" cy="84223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383456"/>
            <a:ext cx="6039669" cy="387548"/>
          </a:xfrm>
          <a:prstGeom prst="rect">
            <a:avLst/>
          </a:prstGeom>
          <a:noFill/>
          <a:ln/>
        </p:spPr>
        <p:txBody>
          <a:bodyPr wrap="none" lIns="0" tIns="0" rIns="0" bIns="0" rtlCol="0" anchor="t"/>
          <a:lstStyle/>
          <a:p>
            <a:pPr marL="0" indent="0" algn="l">
              <a:lnSpc>
                <a:spcPct val="104000"/>
              </a:lnSpc>
              <a:buNone/>
            </a:pPr>
            <a:r>
              <a:rPr lang="en-US" sz="2400" dirty="0">
                <a:solidFill>
                  <a:srgbClr val="FFFFFF"/>
                </a:solidFill>
                <a:latin typeface="Roboto Mono Medium" pitchFamily="34" charset="0"/>
                <a:ea typeface="Roboto Mono Medium" pitchFamily="34" charset="-122"/>
                <a:cs typeface="Roboto Mono Medium" pitchFamily="34" charset="-120"/>
              </a:rPr>
              <a:t>Key Findings &amp; Recommendations</a:t>
            </a:r>
            <a:endParaRPr lang="en-US" sz="2400" dirty="0"/>
          </a:p>
        </p:txBody>
      </p:sp>
      <p:sp>
        <p:nvSpPr>
          <p:cNvPr id="3" name="Shape 1"/>
          <p:cNvSpPr/>
          <p:nvPr/>
        </p:nvSpPr>
        <p:spPr>
          <a:xfrm>
            <a:off x="406822" y="957039"/>
            <a:ext cx="4103191" cy="2643336"/>
          </a:xfrm>
          <a:prstGeom prst="roundRect">
            <a:avLst>
              <a:gd name="adj" fmla="val 704"/>
            </a:avLst>
          </a:prstGeom>
          <a:solidFill>
            <a:srgbClr val="DCFF50"/>
          </a:solidFill>
          <a:ln/>
        </p:spPr>
      </p:sp>
      <p:sp>
        <p:nvSpPr>
          <p:cNvPr id="4" name="Text 2"/>
          <p:cNvSpPr/>
          <p:nvPr/>
        </p:nvSpPr>
        <p:spPr>
          <a:xfrm>
            <a:off x="530796" y="1081013"/>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Roboto Mono Medium" pitchFamily="34" charset="0"/>
                <a:ea typeface="Roboto Mono Medium" pitchFamily="34" charset="-122"/>
                <a:cs typeface="Roboto Mono Medium" pitchFamily="34" charset="-120"/>
              </a:rPr>
              <a:t>Key Findings</a:t>
            </a:r>
            <a:endParaRPr lang="en-US" sz="1200" dirty="0"/>
          </a:p>
        </p:txBody>
      </p:sp>
      <p:sp>
        <p:nvSpPr>
          <p:cNvPr id="5" name="Text 3"/>
          <p:cNvSpPr/>
          <p:nvPr/>
        </p:nvSpPr>
        <p:spPr>
          <a:xfrm>
            <a:off x="530796" y="1398836"/>
            <a:ext cx="3855244" cy="1562770"/>
          </a:xfrm>
          <a:prstGeom prst="rect">
            <a:avLst/>
          </a:prstGeom>
          <a:noFill/>
          <a:ln/>
        </p:spPr>
        <p:txBody>
          <a:bodyPr wrap="square" lIns="0" tIns="0" rIns="0" bIns="0" rtlCol="0" anchor="t">
            <a:normAutofit fontScale="92500"/>
          </a:bodyPr>
          <a:lstStyle/>
          <a:p>
            <a:pPr marL="342900" indent="-342900" algn="l">
              <a:lnSpc>
                <a:spcPct val="133000"/>
              </a:lnSpc>
              <a:buSzPct val="100000"/>
              <a:buChar char="•"/>
            </a:pPr>
            <a:r>
              <a:rPr lang="en-US" sz="950" dirty="0">
                <a:solidFill>
                  <a:srgbClr val="000000"/>
                </a:solidFill>
                <a:latin typeface="Roboto" pitchFamily="34" charset="0"/>
                <a:ea typeface="Roboto" pitchFamily="34" charset="-122"/>
                <a:cs typeface="Roboto" pitchFamily="34" charset="-120"/>
              </a:rPr>
              <a:t>Mutual fund AUM grew significantly across the 2022–2026 period</a:t>
            </a:r>
            <a:endParaRPr lang="en-US" sz="950" dirty="0"/>
          </a:p>
          <a:p>
            <a:pPr marL="342900" indent="-342900" algn="l">
              <a:lnSpc>
                <a:spcPct val="133000"/>
              </a:lnSpc>
              <a:buSzPct val="100000"/>
              <a:buChar char="•"/>
            </a:pPr>
            <a:r>
              <a:rPr lang="en-US" sz="950" dirty="0">
                <a:solidFill>
                  <a:srgbClr val="000000"/>
                </a:solidFill>
                <a:latin typeface="Roboto" pitchFamily="34" charset="0"/>
                <a:ea typeface="Roboto" pitchFamily="34" charset="-122"/>
                <a:cs typeface="Roboto" pitchFamily="34" charset="-120"/>
              </a:rPr>
              <a:t>SIP adoption increased continuously, reflecting behavioral change</a:t>
            </a:r>
            <a:endParaRPr lang="en-US" sz="950" dirty="0"/>
          </a:p>
          <a:p>
            <a:pPr marL="342900" indent="-342900" algn="l">
              <a:lnSpc>
                <a:spcPct val="133000"/>
              </a:lnSpc>
              <a:buSzPct val="100000"/>
              <a:buChar char="•"/>
            </a:pPr>
            <a:r>
              <a:rPr lang="en-US" sz="950" dirty="0">
                <a:solidFill>
                  <a:srgbClr val="000000"/>
                </a:solidFill>
                <a:latin typeface="Roboto" pitchFamily="34" charset="0"/>
                <a:ea typeface="Roboto" pitchFamily="34" charset="-122"/>
                <a:cs typeface="Roboto" pitchFamily="34" charset="-120"/>
              </a:rPr>
              <a:t>Equity funds attracted the maximum share of total inflows</a:t>
            </a:r>
            <a:endParaRPr lang="en-US" sz="950" dirty="0"/>
          </a:p>
          <a:p>
            <a:pPr marL="342900" indent="-342900" algn="l">
              <a:lnSpc>
                <a:spcPct val="133000"/>
              </a:lnSpc>
              <a:buSzPct val="100000"/>
              <a:buChar char="•"/>
            </a:pPr>
            <a:r>
              <a:rPr lang="en-US" sz="950" dirty="0">
                <a:solidFill>
                  <a:srgbClr val="000000"/>
                </a:solidFill>
                <a:latin typeface="Roboto" pitchFamily="34" charset="0"/>
                <a:ea typeface="Roboto" pitchFamily="34" charset="-122"/>
                <a:cs typeface="Roboto" pitchFamily="34" charset="-120"/>
              </a:rPr>
              <a:t>Risk-adjusted metrics (Sharpe, Sortino) provided superior fund evaluation vs. returns alone</a:t>
            </a:r>
            <a:endParaRPr lang="en-US" sz="950" dirty="0"/>
          </a:p>
          <a:p>
            <a:pPr marL="342900" indent="-342900" algn="l">
              <a:lnSpc>
                <a:spcPct val="133000"/>
              </a:lnSpc>
              <a:buSzPct val="100000"/>
              <a:buChar char="•"/>
            </a:pPr>
            <a:r>
              <a:rPr lang="en-US" sz="950" dirty="0">
                <a:solidFill>
                  <a:srgbClr val="000000"/>
                </a:solidFill>
                <a:latin typeface="Roboto" pitchFamily="34" charset="0"/>
                <a:ea typeface="Roboto" pitchFamily="34" charset="-122"/>
                <a:cs typeface="Roboto" pitchFamily="34" charset="-120"/>
              </a:rPr>
              <a:t>Folio count nearly doubled, signaling broadening investor participation</a:t>
            </a:r>
            <a:endParaRPr lang="en-US" sz="950" dirty="0"/>
          </a:p>
        </p:txBody>
      </p:sp>
      <p:sp>
        <p:nvSpPr>
          <p:cNvPr id="6" name="Text 4"/>
          <p:cNvSpPr/>
          <p:nvPr/>
        </p:nvSpPr>
        <p:spPr>
          <a:xfrm>
            <a:off x="4728046" y="1081013"/>
            <a:ext cx="2782714" cy="19384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Roboto Mono Medium" pitchFamily="34" charset="0"/>
                <a:ea typeface="Roboto Mono Medium" pitchFamily="34" charset="-122"/>
                <a:cs typeface="Roboto Mono Medium" pitchFamily="34" charset="-120"/>
              </a:rPr>
              <a:t>Strategic Recommendations</a:t>
            </a:r>
            <a:endParaRPr lang="en-US" sz="1200" dirty="0"/>
          </a:p>
        </p:txBody>
      </p:sp>
      <p:sp>
        <p:nvSpPr>
          <p:cNvPr id="7" name="Text 5"/>
          <p:cNvSpPr/>
          <p:nvPr/>
        </p:nvSpPr>
        <p:spPr>
          <a:xfrm>
            <a:off x="4728046" y="1398836"/>
            <a:ext cx="3924598" cy="2158157"/>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b="1" dirty="0">
                <a:solidFill>
                  <a:srgbClr val="E5E0DF"/>
                </a:solidFill>
                <a:latin typeface="Roboto" pitchFamily="34" charset="0"/>
                <a:ea typeface="Roboto" pitchFamily="34" charset="-122"/>
                <a:cs typeface="Roboto" pitchFamily="34" charset="-120"/>
              </a:rPr>
              <a:t>Diversify portfolios</a:t>
            </a:r>
            <a:r>
              <a:rPr lang="en-US" sz="950" dirty="0">
                <a:solidFill>
                  <a:srgbClr val="E5E0DF"/>
                </a:solidFill>
                <a:latin typeface="Roboto" pitchFamily="34" charset="0"/>
                <a:ea typeface="Roboto" pitchFamily="34" charset="-122"/>
                <a:cs typeface="Roboto" pitchFamily="34" charset="-120"/>
              </a:rPr>
              <a:t> across equity, hybrid, and debt categories to manage risk</a:t>
            </a:r>
            <a:endParaRPr lang="en-US" sz="950" dirty="0"/>
          </a:p>
          <a:p>
            <a:pPr marL="342900" indent="-342900" algn="l">
              <a:lnSpc>
                <a:spcPct val="133000"/>
              </a:lnSpc>
              <a:buSzPct val="100000"/>
              <a:buChar char="•"/>
            </a:pPr>
            <a:r>
              <a:rPr lang="en-US" sz="950" b="1" dirty="0">
                <a:solidFill>
                  <a:srgbClr val="E5E0DF"/>
                </a:solidFill>
                <a:latin typeface="Roboto" pitchFamily="34" charset="0"/>
                <a:ea typeface="Roboto" pitchFamily="34" charset="-122"/>
                <a:cs typeface="Roboto" pitchFamily="34" charset="-120"/>
              </a:rPr>
              <a:t>Use Sharpe Ratio alongside CAGR</a:t>
            </a:r>
            <a:r>
              <a:rPr lang="en-US" sz="950" dirty="0">
                <a:solidFill>
                  <a:srgbClr val="E5E0DF"/>
                </a:solidFill>
                <a:latin typeface="Roboto" pitchFamily="34" charset="0"/>
                <a:ea typeface="Roboto" pitchFamily="34" charset="-122"/>
                <a:cs typeface="Roboto" pitchFamily="34" charset="-120"/>
              </a:rPr>
              <a:t> when comparing funds — returns without risk context are incomplete</a:t>
            </a:r>
            <a:endParaRPr lang="en-US" sz="950" dirty="0"/>
          </a:p>
          <a:p>
            <a:pPr marL="342900" indent="-342900" algn="l">
              <a:lnSpc>
                <a:spcPct val="133000"/>
              </a:lnSpc>
              <a:buSzPct val="100000"/>
              <a:buChar char="•"/>
            </a:pPr>
            <a:r>
              <a:rPr lang="en-US" sz="950" b="1" dirty="0">
                <a:solidFill>
                  <a:srgbClr val="E5E0DF"/>
                </a:solidFill>
                <a:latin typeface="Roboto" pitchFamily="34" charset="0"/>
                <a:ea typeface="Roboto" pitchFamily="34" charset="-122"/>
                <a:cs typeface="Roboto" pitchFamily="34" charset="-120"/>
              </a:rPr>
              <a:t>Maintain SIP discipline</a:t>
            </a:r>
            <a:r>
              <a:rPr lang="en-US" sz="950" dirty="0">
                <a:solidFill>
                  <a:srgbClr val="E5E0DF"/>
                </a:solidFill>
                <a:latin typeface="Roboto" pitchFamily="34" charset="0"/>
                <a:ea typeface="Roboto" pitchFamily="34" charset="-122"/>
                <a:cs typeface="Roboto" pitchFamily="34" charset="-120"/>
              </a:rPr>
              <a:t> for long-term wealth creation; consistency outperforms timing</a:t>
            </a:r>
            <a:endParaRPr lang="en-US" sz="950" dirty="0"/>
          </a:p>
          <a:p>
            <a:pPr marL="342900" indent="-342900" algn="l">
              <a:lnSpc>
                <a:spcPct val="133000"/>
              </a:lnSpc>
              <a:buSzPct val="100000"/>
              <a:buChar char="•"/>
            </a:pPr>
            <a:r>
              <a:rPr lang="en-US" sz="950" b="1" dirty="0">
                <a:solidFill>
                  <a:srgbClr val="E5E0DF"/>
                </a:solidFill>
                <a:latin typeface="Roboto" pitchFamily="34" charset="0"/>
                <a:ea typeface="Roboto" pitchFamily="34" charset="-122"/>
                <a:cs typeface="Roboto" pitchFamily="34" charset="-120"/>
              </a:rPr>
              <a:t>Monitor drawdown metrics</a:t>
            </a:r>
            <a:r>
              <a:rPr lang="en-US" sz="950" dirty="0">
                <a:solidFill>
                  <a:srgbClr val="E5E0DF"/>
                </a:solidFill>
                <a:latin typeface="Roboto" pitchFamily="34" charset="0"/>
                <a:ea typeface="Roboto" pitchFamily="34" charset="-122"/>
                <a:cs typeface="Roboto" pitchFamily="34" charset="-120"/>
              </a:rPr>
              <a:t> to understand downside exposure before investing</a:t>
            </a:r>
            <a:endParaRPr lang="en-US" sz="950" dirty="0"/>
          </a:p>
          <a:p>
            <a:pPr marL="342900" indent="-342900" algn="l">
              <a:lnSpc>
                <a:spcPct val="133000"/>
              </a:lnSpc>
              <a:buSzPct val="100000"/>
              <a:buChar char="•"/>
            </a:pPr>
            <a:r>
              <a:rPr lang="en-US" sz="950" b="1" dirty="0">
                <a:solidFill>
                  <a:srgbClr val="E5E0DF"/>
                </a:solidFill>
                <a:latin typeface="Roboto" pitchFamily="34" charset="0"/>
                <a:ea typeface="Roboto" pitchFamily="34" charset="-122"/>
                <a:cs typeface="Roboto" pitchFamily="34" charset="-120"/>
              </a:rPr>
              <a:t>Leverage dashboards</a:t>
            </a:r>
            <a:r>
              <a:rPr lang="en-US" sz="950" dirty="0">
                <a:solidFill>
                  <a:srgbClr val="E5E0DF"/>
                </a:solidFill>
                <a:latin typeface="Roboto" pitchFamily="34" charset="0"/>
                <a:ea typeface="Roboto" pitchFamily="34" charset="-122"/>
                <a:cs typeface="Roboto" pitchFamily="34" charset="-120"/>
              </a:rPr>
              <a:t> for ongoing portfolio monitoring and rebalancing decisions</a:t>
            </a:r>
            <a:endParaRPr lang="en-US" sz="950" dirty="0"/>
          </a:p>
        </p:txBody>
      </p:sp>
      <p:sp>
        <p:nvSpPr>
          <p:cNvPr id="8" name="Shape 6"/>
          <p:cNvSpPr/>
          <p:nvPr/>
        </p:nvSpPr>
        <p:spPr>
          <a:xfrm>
            <a:off x="496119" y="3739902"/>
            <a:ext cx="8151763" cy="682079"/>
          </a:xfrm>
          <a:prstGeom prst="roundRect">
            <a:avLst>
              <a:gd name="adj" fmla="val 2728"/>
            </a:avLst>
          </a:prstGeom>
          <a:solidFill>
            <a:srgbClr val="3D4D00"/>
          </a:solidFill>
          <a:ln/>
        </p:spPr>
      </p:sp>
      <p:pic>
        <p:nvPicPr>
          <p:cNvPr id="9" name="Image 0" descr="preencoded.png"/>
          <p:cNvPicPr>
            <a:picLocks noChangeAspect="1"/>
          </p:cNvPicPr>
          <p:nvPr/>
        </p:nvPicPr>
        <p:blipFill>
          <a:blip r:embed="rId3"/>
          <a:stretch>
            <a:fillRect/>
          </a:stretch>
        </p:blipFill>
        <p:spPr>
          <a:xfrm>
            <a:off x="620092" y="3919686"/>
            <a:ext cx="155004" cy="123974"/>
          </a:xfrm>
          <a:prstGeom prst="rect">
            <a:avLst/>
          </a:prstGeom>
        </p:spPr>
      </p:pic>
      <p:sp>
        <p:nvSpPr>
          <p:cNvPr id="10" name="Text 7"/>
          <p:cNvSpPr/>
          <p:nvPr/>
        </p:nvSpPr>
        <p:spPr>
          <a:xfrm>
            <a:off x="899071" y="3882479"/>
            <a:ext cx="7624837"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FFFFFF"/>
                </a:solidFill>
                <a:latin typeface="Roboto" pitchFamily="34" charset="0"/>
                <a:ea typeface="Roboto" pitchFamily="34" charset="-122"/>
                <a:cs typeface="Roboto" pitchFamily="34" charset="-120"/>
              </a:rPr>
              <a:t>This capstone project demonstrates an end-to-end analytics workflow — from raw data to actionable investment intelligence — using industry-standard tools including SQLite, Python, and Power BI.</a:t>
            </a:r>
            <a:endParaRPr lang="en-US" sz="950" dirty="0"/>
          </a:p>
        </p:txBody>
      </p:sp>
      <p:sp>
        <p:nvSpPr>
          <p:cNvPr id="11" name="Text 8"/>
          <p:cNvSpPr/>
          <p:nvPr/>
        </p:nvSpPr>
        <p:spPr>
          <a:xfrm>
            <a:off x="496119" y="4561508"/>
            <a:ext cx="8608963" cy="198462"/>
          </a:xfrm>
          <a:prstGeom prst="rect">
            <a:avLst/>
          </a:prstGeom>
          <a:noFill/>
          <a:ln/>
        </p:spPr>
        <p:txBody>
          <a:bodyPr wrap="none" lIns="0" tIns="0" rIns="0" bIns="0" rtlCol="0" anchor="t"/>
          <a:lstStyle/>
          <a:p>
            <a:pPr marL="0" indent="0" algn="l">
              <a:lnSpc>
                <a:spcPct val="133000"/>
              </a:lnSpc>
              <a:buNone/>
            </a:pPr>
            <a:r>
              <a:rPr lang="en-US" sz="950" b="1" dirty="0">
                <a:solidFill>
                  <a:srgbClr val="E5E0DF"/>
                </a:solidFill>
                <a:latin typeface="Roboto" pitchFamily="34" charset="0"/>
                <a:ea typeface="Roboto" pitchFamily="34" charset="-122"/>
                <a:cs typeface="Roboto" pitchFamily="34" charset="-120"/>
              </a:rPr>
              <a:t>Thank you.</a:t>
            </a:r>
            <a:r>
              <a:rPr lang="en-US" sz="950" dirty="0">
                <a:solidFill>
                  <a:srgbClr val="E5E0DF"/>
                </a:solidFill>
                <a:latin typeface="Roboto" pitchFamily="34" charset="0"/>
                <a:ea typeface="Roboto" pitchFamily="34" charset="-122"/>
                <a:cs typeface="Roboto" pitchFamily="34" charset="-120"/>
              </a:rPr>
              <a:t> Questions and discussion welcome. · </a:t>
            </a:r>
            <a:r>
              <a:rPr lang="en-US" sz="950" i="1" dirty="0">
                <a:solidFill>
                  <a:srgbClr val="E5E0DF"/>
                </a:solidFill>
                <a:latin typeface="Roboto" pitchFamily="34" charset="0"/>
                <a:ea typeface="Roboto" pitchFamily="34" charset="-122"/>
                <a:cs typeface="Roboto" pitchFamily="34" charset="-120"/>
              </a:rPr>
              <a:t>Prepared by Hifza Tanveer · Bluestock Mutual Fund Analytics · BCA Final Year · 2026</a:t>
            </a:r>
            <a:endParaRPr lang="en-US" sz="950" dirty="0"/>
          </a:p>
        </p:txBody>
      </p:sp>
      <p:sp>
        <p:nvSpPr>
          <p:cNvPr id="12" name="Rectangle: Rounded Corners 11">
            <a:extLst>
              <a:ext uri="{FF2B5EF4-FFF2-40B4-BE49-F238E27FC236}">
                <a16:creationId xmlns:a16="http://schemas.microsoft.com/office/drawing/2014/main" id="{F534D7CC-62E6-8776-2BF3-372501D4414F}"/>
              </a:ext>
            </a:extLst>
          </p:cNvPr>
          <p:cNvSpPr/>
          <p:nvPr/>
        </p:nvSpPr>
        <p:spPr>
          <a:xfrm>
            <a:off x="8039687" y="4881489"/>
            <a:ext cx="1019908" cy="182880"/>
          </a:xfrm>
          <a:prstGeom prst="roundRect">
            <a:avLst>
              <a:gd name="adj" fmla="val 0"/>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747D8F1-DB13-EDB5-33D2-352E3905C6EC}"/>
              </a:ext>
            </a:extLst>
          </p:cNvPr>
          <p:cNvSpPr/>
          <p:nvPr/>
        </p:nvSpPr>
        <p:spPr>
          <a:xfrm>
            <a:off x="8039687" y="4881489"/>
            <a:ext cx="1019908" cy="182880"/>
          </a:xfrm>
          <a:prstGeom prst="roundRect">
            <a:avLst>
              <a:gd name="adj" fmla="val 0"/>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CDF229D-5CBF-7BDC-C2DB-9B655EADF551}"/>
              </a:ext>
            </a:extLst>
          </p:cNvPr>
          <p:cNvSpPr txBox="1"/>
          <p:nvPr/>
        </p:nvSpPr>
        <p:spPr>
          <a:xfrm>
            <a:off x="2032782" y="1689854"/>
            <a:ext cx="4572000" cy="1015663"/>
          </a:xfrm>
          <a:prstGeom prst="rect">
            <a:avLst/>
          </a:prstGeom>
          <a:noFill/>
        </p:spPr>
        <p:txBody>
          <a:bodyPr wrap="square">
            <a:spAutoFit/>
          </a:bodyPr>
          <a:lstStyle/>
          <a:p>
            <a:pPr algn="ctr"/>
            <a:r>
              <a:rPr lang="en-US" sz="6000" dirty="0">
                <a:solidFill>
                  <a:schemeClr val="bg1"/>
                </a:solidFill>
              </a:rPr>
              <a:t>THANK YOU</a:t>
            </a:r>
          </a:p>
        </p:txBody>
      </p:sp>
    </p:spTree>
    <p:extLst>
      <p:ext uri="{BB962C8B-B14F-4D97-AF65-F5344CB8AC3E}">
        <p14:creationId xmlns:p14="http://schemas.microsoft.com/office/powerpoint/2010/main" val="6721402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1058</Words>
  <Application>Microsoft Office PowerPoint</Application>
  <PresentationFormat>On-screen Show (16:9)</PresentationFormat>
  <Paragraphs>101</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Roboto Mono Medium</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Dell</cp:lastModifiedBy>
  <cp:revision>3</cp:revision>
  <dcterms:created xsi:type="dcterms:W3CDTF">2026-06-11T16:55:23Z</dcterms:created>
  <dcterms:modified xsi:type="dcterms:W3CDTF">2026-06-11T17:05:05Z</dcterms:modified>
</cp:coreProperties>
</file>